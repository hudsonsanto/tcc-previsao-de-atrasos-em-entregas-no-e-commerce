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sldIdLst>
    <p:sldId id="256" r:id="rId6"/>
    <p:sldId id="268" r:id="rId7"/>
    <p:sldId id="290" r:id="rId8"/>
    <p:sldId id="270" r:id="rId9"/>
    <p:sldId id="296" r:id="rId10"/>
    <p:sldId id="272" r:id="rId11"/>
    <p:sldId id="297" r:id="rId12"/>
    <p:sldId id="273" r:id="rId13"/>
    <p:sldId id="299" r:id="rId14"/>
    <p:sldId id="274" r:id="rId15"/>
    <p:sldId id="276" r:id="rId16"/>
    <p:sldId id="277" r:id="rId17"/>
    <p:sldId id="278" r:id="rId18"/>
    <p:sldId id="300" r:id="rId19"/>
    <p:sldId id="289" r:id="rId20"/>
    <p:sldId id="294" r:id="rId21"/>
    <p:sldId id="279" r:id="rId22"/>
    <p:sldId id="280" r:id="rId23"/>
    <p:sldId id="295" r:id="rId24"/>
    <p:sldId id="281" r:id="rId25"/>
    <p:sldId id="301" r:id="rId26"/>
    <p:sldId id="282" r:id="rId27"/>
    <p:sldId id="293" r:id="rId28"/>
    <p:sldId id="284" r:id="rId29"/>
    <p:sldId id="291" r:id="rId30"/>
    <p:sldId id="285" r:id="rId31"/>
    <p:sldId id="292" r:id="rId32"/>
    <p:sldId id="287" r:id="rId33"/>
    <p:sldId id="298" r:id="rId34"/>
    <p:sldId id="288" r:id="rId35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F4F9"/>
    <a:srgbClr val="1A587E"/>
    <a:srgbClr val="E9EDF3"/>
    <a:srgbClr val="0046B5"/>
    <a:srgbClr val="D9E1F2"/>
    <a:srgbClr val="1F4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>
        <p:scale>
          <a:sx n="80" d="100"/>
          <a:sy n="80" d="100"/>
        </p:scale>
        <p:origin x="691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tableStyles" Target="tableStyle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E54188C-5123-C403-D056-93E26F433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41F348-3173-4368-9AE4-2C210B104C9A}" type="datetimeFigureOut">
              <a:rPr lang="pt-BR"/>
              <a:pPr>
                <a:defRPr/>
              </a:pPr>
              <a:t>04/07/2026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48FF5D-D431-88CE-6059-A5CCBA4BFC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36DCA9-8EA9-A37A-51F1-8B71F4CBC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1F76F7-039B-430A-B7B5-577DDA3C4D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4697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4A8A04-19E9-70E3-19CA-3B3FF0220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53154-227E-4FB0-9144-264D99B09C4F}" type="datetimeFigureOut">
              <a:rPr lang="pt-BR"/>
              <a:pPr>
                <a:defRPr/>
              </a:pPr>
              <a:t>04/07/2026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2BC6B5-7E86-2B7B-9668-FB92CF95D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77AE915-4AA5-1329-97D0-038C90D4E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3A4533-5DBE-4FD4-A061-EAF54B40E89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pic>
        <p:nvPicPr>
          <p:cNvPr id="7" name="Imagem 4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664C5D5B-F775-740C-162F-75F700AA3B6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4838" y="6224588"/>
            <a:ext cx="1182687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984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853632-0636-CD63-8241-3E8831E4E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3CC2B-74D8-4575-BC9B-C755C2896EC6}" type="datetimeFigureOut">
              <a:rPr lang="pt-BR"/>
              <a:pPr>
                <a:defRPr/>
              </a:pPr>
              <a:t>04/07/2026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A3DF60-2307-708F-4B50-3EC9B5C1A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AA974E-B8F0-D8E5-71C1-3AC1FBF68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64EEBC-97AD-4BB5-8C4C-916E37B736B5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8984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3206DE05-FE47-C861-B320-19DCD0AD1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663D85-07B5-4A63-A5EE-7CB9EBD586D1}" type="datetimeFigureOut">
              <a:rPr lang="pt-BR"/>
              <a:pPr>
                <a:defRPr/>
              </a:pPr>
              <a:t>04/07/2026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0266CD70-C085-D99C-4F89-89C7448D3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E0FDED60-12D4-0D84-DC2C-025B2AF21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7F81F3-3B6B-4158-A2EA-435EE12202D3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8135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7BCF1C5A-A74A-F7CB-5428-776F6FA85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049EFE-17D5-480A-B754-87D854FBA7BD}" type="datetimeFigureOut">
              <a:rPr lang="pt-BR"/>
              <a:pPr>
                <a:defRPr/>
              </a:pPr>
              <a:t>04/07/2026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2ECEE962-D46B-58FA-EF60-EDFE1973F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F32B39DE-A1FE-7775-DE1E-ACB086D88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139C0E-B88B-4E19-94FC-2325D76F751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4631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5137CD16-6574-6E1F-ABE4-0A545D365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393E6F-C6AF-442E-89E3-F85E24AFDA58}" type="datetimeFigureOut">
              <a:rPr lang="pt-BR"/>
              <a:pPr>
                <a:defRPr/>
              </a:pPr>
              <a:t>04/07/2026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35BCBFEA-C5E5-6A42-1AAA-FAF2685FD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3987B575-2E62-724D-F599-EAD1951FE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3265F5-9918-43E5-A4FC-F732428B84DE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1812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57D1C6B0-5D54-197F-AC9B-65D8851F8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AD17F-5C37-430A-8177-1918C74E06A4}" type="datetimeFigureOut">
              <a:rPr lang="pt-BR"/>
              <a:pPr>
                <a:defRPr/>
              </a:pPr>
              <a:t>04/07/2026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0D6031AF-FE42-9BB0-2711-99D8A67E0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8E6DDA5D-8BD5-1650-B632-A61D9B1D3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5EDAD0-5299-4C4E-859B-63E5266360B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1707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2A53A17D-9EEC-1376-506B-D8D43425E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897BD8-28FD-44E8-9D3A-DD444A1270E8}" type="datetimeFigureOut">
              <a:rPr lang="pt-BR"/>
              <a:pPr>
                <a:defRPr/>
              </a:pPr>
              <a:t>04/07/2026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843F775C-E2F8-910D-745B-5D354CFD6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33860552-DD75-02DB-B500-B86A9D63C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DB9B6-62D8-4BB7-BB1C-7D883C26475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4797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E581D842-D706-7D01-7B93-471F1CCC9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F3CEA6-D88E-4E80-9FC8-3DA155323873}" type="datetimeFigureOut">
              <a:rPr lang="pt-BR"/>
              <a:pPr>
                <a:defRPr/>
              </a:pPr>
              <a:t>04/07/2026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B16DC51D-DF0D-58F1-CFE1-BE3016910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C407A454-8E16-BB9C-37DE-A2D421A11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38A33F-6685-41BA-80F1-2B0923865B5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97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D59DDA-6441-1B7C-B62C-BF62B03B0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D6C737-1E34-435B-8742-DFCAF78F49C8}" type="datetimeFigureOut">
              <a:rPr lang="pt-BR"/>
              <a:pPr>
                <a:defRPr/>
              </a:pPr>
              <a:t>04/07/2026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BB4E6C9-D9FC-E0DC-02F2-F642D50DA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7BB54B-F4A2-4AA3-61E6-2A9526B0F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16F8B4-0831-4CF4-85C7-B8BB0D88BD5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011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5B2444-C6E0-2A95-B28D-C7A5E66A5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E7F4D5-5FF4-4AE9-9E53-FBC51E1889ED}" type="datetimeFigureOut">
              <a:rPr lang="pt-BR"/>
              <a:pPr>
                <a:defRPr/>
              </a:pPr>
              <a:t>04/07/2026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E08FAD-EDC2-8C7B-CA3B-A64C9007E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F2CA30-119A-4372-93F3-D47A1D77A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20E77F-8C06-477A-82CE-75C5F46B7A4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08195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5EF62E-0F2D-47C5-6D89-F3CCC797A0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F4013DC-8F6A-2CEA-B95A-3A12F4C280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668CB8-DA21-60CA-576A-40CEC5DCC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04/07/2026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6A8E9C-7002-046F-C62C-7F7B5DF42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BD49D0-7B3E-366D-C1B1-645D15AAD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2374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714900-2B20-CF61-3EF4-0A478244D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001EAC-6554-6610-2375-BA980B384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B100A3-B288-7584-7AB3-3E2C89CB7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04/07/2026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67905D-FE02-43D8-7F1A-B52231D5F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9585B9-64F8-F534-75D1-DB0DF76E8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4596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738F6-0B84-F482-8581-48DA78122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1F32F5C-3A9A-B986-48CB-28B6608B5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0B67F0-1844-E07C-FBBF-6ED7E9FEA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04/07/2026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FC171B8-D512-7700-A187-95FFAA3B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7D3D2D-4DBF-3F52-754A-0DE045A29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12858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06D6A7-8208-8CB5-1985-A690E3FDE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A60FB5-FBFF-38BB-9508-C46FDB26E5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52AD750-9710-6744-3DFA-8094CA9B77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88C0DD2-EA0A-EC6D-D5F7-AADE939C6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04/07/2026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9482AC6-F053-EEDD-5637-B347FE01A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FF95F68-3D6D-9BA7-9C25-7DA1717F6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81520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E04330-174D-29E5-8654-46A07AF89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E00D73-2C2D-23AB-0134-CF309677B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D249F24-FCDC-6B9A-A6D7-D05223708E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B6A79D9-C4D3-5F6D-6C3A-8A7DFBE06D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E70E644-EED5-872A-3F3E-8DA878743A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A434F67-88BF-E7AB-8146-F015A2E42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04/07/2026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2316F72-0B0C-741B-4791-1A08DCC05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CD686B2-8C95-B1A7-8647-8AE6D6273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98890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ACA114-7BEF-8889-4AAD-A4650F50F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84703BE-0278-68C8-55F1-5E12C6A85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04/07/2026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F362A38-B33A-3B43-1FC6-6E9131030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383375D-BA6C-7189-935B-2C4CDA4C2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33174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BB3D465-661A-008F-6997-8D0BE07BE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04/07/2026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D01AFC2-EE9C-0E49-2FB7-F1B471B66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512F564-8150-6C5C-3AD4-CA179A8EE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94443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12C474-3B0B-B417-EC81-75DE75A54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1C390E-B237-7170-85F8-A35CF9644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BF85BDB-CC8C-5D62-5852-0D91B7C5C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01FF1C5-64A0-DAB8-6184-8BE64977D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04/07/2026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DABDF35-C8D7-F2C0-CBF3-D0DCEC1DD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C293867-BF6F-F150-C690-A101E356D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1636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74E243-EE90-F093-06FD-D01879DC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5DA1786-0D87-7592-C312-AAA4055FF9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53ED9EA-D49E-8E58-3C63-9B8108BE58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1067272-070E-82A2-443A-948B5B5AD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04/07/2026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01E17D2-90C1-300D-83AA-A1DA1DF93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B4B14FE-048C-DF7C-85F1-4F55DAF38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240329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7E6FBF-271B-6A71-80D3-84715724A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D386F14-8F4A-F22F-9FFC-1164C0CD9D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95AC9A-FDC8-0DEE-1058-0933DBB4B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04/07/2026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8118C6-633D-F2FC-6522-4511BBD82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7A59AB-5B8D-B9F1-CA52-861E99D9C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00027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1916963-F002-4CC0-000F-721A3B3C7D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1565939-2249-B159-ED7A-6B667FC19F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0FB969-A189-C5D2-6D3C-3B2D596AF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24664-DFBB-4E94-A029-90BF542E375A}" type="datetimeFigureOut">
              <a:rPr lang="pt-BR" smtClean="0"/>
              <a:t>04/07/2026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16F883-BB93-AA0F-E2B5-D8DB0A17F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7187D8-30AE-608E-E44C-43BD8F606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1163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54FEAEE6-6DC3-82AD-923E-6E89737ACE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2EB787A8-6C53-B312-69D6-15B7C63FD6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AB38F5-179C-EC89-D177-EDF645BBBA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4DEA24CB-D011-40A9-9B00-17F8B95BC099}" type="datetimeFigureOut">
              <a:rPr lang="pt-BR"/>
              <a:pPr>
                <a:defRPr/>
              </a:pPr>
              <a:t>04/07/2026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96B3C93-8BD6-F4DF-2EF9-9F9B19864D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E79F760-62C7-A95B-8BCB-9125DE6467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31B5D4AF-77A0-46F4-A4DA-44F26C2F6F0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0CD8993-8EFA-C921-CE50-C91B93C59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FDAFABD-CCB9-B391-F672-3C505C4ED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6F6392-A335-49EB-9AF3-43BB6706E9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724664-DFBB-4E94-A029-90BF542E375A}" type="datetimeFigureOut">
              <a:rPr lang="pt-BR" smtClean="0"/>
              <a:t>04/07/2026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43C747-C098-229A-2F92-02372364E8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901009F-9821-73C3-C06E-B6C465341E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86E26F-4CA5-445A-BDCA-5EE22F151C7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8777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m 4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69167FFF-053C-32A8-23DF-F9F613927C3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400" y="1187450"/>
            <a:ext cx="2692400" cy="448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Título 1">
            <a:extLst>
              <a:ext uri="{FF2B5EF4-FFF2-40B4-BE49-F238E27FC236}">
                <a16:creationId xmlns:a16="http://schemas.microsoft.com/office/drawing/2014/main" id="{5E191FB6-9076-7761-D0ED-D4DB65D1453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114800" y="1550988"/>
            <a:ext cx="7654925" cy="200342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pt-BR" altLang="pt-BR" sz="4000" dirty="0">
                <a:solidFill>
                  <a:schemeClr val="bg2"/>
                </a:solidFill>
                <a:latin typeface="+mn-lt"/>
                <a:cs typeface="Poppins SemiBold" panose="00000700000000000000" pitchFamily="2" charset="0"/>
              </a:rPr>
              <a:t>Previsão de atrasos em entregas no e-commerce com machine learning e Power BI</a:t>
            </a: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E2D5B23A-1E89-B367-5D15-A0EBF76473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0750" y="3910013"/>
            <a:ext cx="5356225" cy="741362"/>
          </a:xfrm>
        </p:spPr>
        <p:txBody>
          <a:bodyPr rtlCol="0">
            <a:normAutofit fontScale="92500" lnSpcReduction="20000"/>
          </a:bodyPr>
          <a:lstStyle/>
          <a:p>
            <a:pPr algn="l" fontAlgn="auto">
              <a:spcAft>
                <a:spcPts val="0"/>
              </a:spcAft>
              <a:defRPr/>
            </a:pPr>
            <a:r>
              <a:rPr lang="pt-BR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Hudson dos Santos</a:t>
            </a:r>
          </a:p>
          <a:p>
            <a:pPr algn="l" fontAlgn="auto">
              <a:spcAft>
                <a:spcPts val="0"/>
              </a:spcAft>
              <a:defRPr/>
            </a:pPr>
            <a:r>
              <a:rPr lang="pt-BR" dirty="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Orientador: Henrique Raymundo Gioia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9D6D1-54AF-24C6-8D2B-F141CD1ED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D412AC27-E8E6-15CC-36BD-E7E0938A3058}"/>
              </a:ext>
            </a:extLst>
          </p:cNvPr>
          <p:cNvSpPr/>
          <p:nvPr/>
        </p:nvSpPr>
        <p:spPr>
          <a:xfrm>
            <a:off x="6096000" y="1855303"/>
            <a:ext cx="5234609" cy="402866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D9E1F2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7C54943-0352-DF43-D053-6A13B2E11E5C}"/>
              </a:ext>
            </a:extLst>
          </p:cNvPr>
          <p:cNvSpPr txBox="1"/>
          <p:nvPr/>
        </p:nvSpPr>
        <p:spPr>
          <a:xfrm>
            <a:off x="437321" y="596348"/>
            <a:ext cx="49132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1F4E79"/>
                </a:solidFill>
              </a:rPr>
              <a:t>Introdução e Contexto</a:t>
            </a:r>
            <a:endParaRPr lang="pt-BR" sz="3600" dirty="0">
              <a:solidFill>
                <a:srgbClr val="1F4E79"/>
              </a:solidFill>
              <a:effectLst/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2E3D9F23-4E24-B68E-7475-8292326930DB}"/>
              </a:ext>
            </a:extLst>
          </p:cNvPr>
          <p:cNvSpPr/>
          <p:nvPr/>
        </p:nvSpPr>
        <p:spPr>
          <a:xfrm>
            <a:off x="574261" y="1855304"/>
            <a:ext cx="5234609" cy="402866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D9E1F2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E8A1CAA-E8C3-7A0B-4A88-52AF877396D1}"/>
              </a:ext>
            </a:extLst>
          </p:cNvPr>
          <p:cNvSpPr txBox="1"/>
          <p:nvPr/>
        </p:nvSpPr>
        <p:spPr>
          <a:xfrm>
            <a:off x="895626" y="2345706"/>
            <a:ext cx="4591879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>
                <a:solidFill>
                  <a:srgbClr val="1F4E79"/>
                </a:solidFill>
              </a:rPr>
              <a:t>O Cenário</a:t>
            </a:r>
          </a:p>
          <a:p>
            <a:endParaRPr lang="pt-BR" b="1" dirty="0"/>
          </a:p>
          <a:p>
            <a:pPr algn="just"/>
            <a:r>
              <a:rPr lang="pt-BR" dirty="0"/>
              <a:t>O comércio eletrônico no Brasil experimenta crescimento acelerado, exigindo grande adaptação.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 A logística assumiu papel central e estratégico na competitividade das empresas. Entregas no prazo garantem a satisfação e fidelização dos clientes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5FCC5A2-5D68-7E99-2DD9-366EA96FF336}"/>
              </a:ext>
            </a:extLst>
          </p:cNvPr>
          <p:cNvSpPr txBox="1"/>
          <p:nvPr/>
        </p:nvSpPr>
        <p:spPr>
          <a:xfrm>
            <a:off x="6417365" y="2233063"/>
            <a:ext cx="4591879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>
                <a:solidFill>
                  <a:srgbClr val="1F4E79"/>
                </a:solidFill>
              </a:rPr>
              <a:t>O Desafio e a Solução</a:t>
            </a:r>
          </a:p>
          <a:p>
            <a:endParaRPr lang="pt-BR" b="1" dirty="0"/>
          </a:p>
          <a:p>
            <a:pPr algn="just"/>
            <a:r>
              <a:rPr lang="pt-BR" dirty="0"/>
              <a:t>O aumento expressivo no volume de pedidos torna a previsão de atrasos um obstáculo relevante, exigindo eficiência e capacidade analítica.</a:t>
            </a:r>
          </a:p>
          <a:p>
            <a:pPr algn="just"/>
            <a:r>
              <a:rPr lang="pt-BR" dirty="0"/>
              <a:t> </a:t>
            </a:r>
          </a:p>
          <a:p>
            <a:pPr algn="just"/>
            <a:r>
              <a:rPr lang="pt-BR" dirty="0"/>
              <a:t>A adoção de </a:t>
            </a:r>
            <a:r>
              <a:rPr lang="pt-BR" b="1" dirty="0"/>
              <a:t>Machine Learning </a:t>
            </a:r>
            <a:r>
              <a:rPr lang="pt-BR" dirty="0"/>
              <a:t>em conjunto com ferramentas de BI surge como alternativa para prever atrasos e apoiar decisões logísticas</a:t>
            </a:r>
          </a:p>
        </p:txBody>
      </p:sp>
    </p:spTree>
    <p:extLst>
      <p:ext uri="{BB962C8B-B14F-4D97-AF65-F5344CB8AC3E}">
        <p14:creationId xmlns:p14="http://schemas.microsoft.com/office/powerpoint/2010/main" val="3166629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 descr="Como funciona a logística de um e-commerce: do clique à sua porta">
            <a:extLst>
              <a:ext uri="{FF2B5EF4-FFF2-40B4-BE49-F238E27FC236}">
                <a16:creationId xmlns:a16="http://schemas.microsoft.com/office/drawing/2014/main" id="{095324F2-A224-6247-E0A4-3EDCE7F96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31" y="1802927"/>
            <a:ext cx="5568369" cy="4026477"/>
          </a:xfrm>
          <a:prstGeom prst="rect">
            <a:avLst/>
          </a:prstGeom>
          <a:noFill/>
          <a:ln cap="rnd">
            <a:solidFill>
              <a:srgbClr val="F1F4F9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DF3EEE15-0ECF-388D-49FC-B19F871EBD7F}"/>
              </a:ext>
            </a:extLst>
          </p:cNvPr>
          <p:cNvSpPr txBox="1"/>
          <p:nvPr/>
        </p:nvSpPr>
        <p:spPr>
          <a:xfrm>
            <a:off x="437321" y="596348"/>
            <a:ext cx="49132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1F4E79"/>
                </a:solidFill>
              </a:rPr>
              <a:t>Introdução e Contexto</a:t>
            </a:r>
            <a:endParaRPr lang="pt-BR" sz="3600" dirty="0">
              <a:solidFill>
                <a:srgbClr val="1F4E79"/>
              </a:solidFill>
              <a:effectLst/>
            </a:endParaRP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3878A784-A122-C2A4-EFEC-8780D021328E}"/>
              </a:ext>
            </a:extLst>
          </p:cNvPr>
          <p:cNvSpPr/>
          <p:nvPr/>
        </p:nvSpPr>
        <p:spPr>
          <a:xfrm>
            <a:off x="6751126" y="1800743"/>
            <a:ext cx="5234609" cy="402866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D9E1F2"/>
              </a:solidFill>
            </a:endParaRP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A8C6FDE2-B347-8764-3CA7-8BC0AADFFA54}"/>
              </a:ext>
            </a:extLst>
          </p:cNvPr>
          <p:cNvSpPr txBox="1"/>
          <p:nvPr/>
        </p:nvSpPr>
        <p:spPr>
          <a:xfrm>
            <a:off x="7072490" y="1800743"/>
            <a:ext cx="4591879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2200" b="1" dirty="0">
              <a:solidFill>
                <a:srgbClr val="1F4E79"/>
              </a:solidFill>
            </a:endParaRPr>
          </a:p>
          <a:p>
            <a:endParaRPr lang="pt-BR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b="1" dirty="0"/>
              <a:t>Contexto de Negócio:</a:t>
            </a:r>
            <a:r>
              <a:rPr lang="pt-BR" dirty="0"/>
              <a:t> Dinâmica do e-commerce e a alta criticidade operacional dos prazos de entrega.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Nesse contexto a adoção de Machine Learning em conjunto com ferramentas de BI surge como alternativa para prever atrasos e apoiar decisões logísticas.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9468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0A82F-54C1-4C1E-AFB9-30B680D21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E66ADA4C-046A-70E4-0394-E0503C1550B6}"/>
              </a:ext>
            </a:extLst>
          </p:cNvPr>
          <p:cNvSpPr/>
          <p:nvPr/>
        </p:nvSpPr>
        <p:spPr>
          <a:xfrm>
            <a:off x="574262" y="3286540"/>
            <a:ext cx="10756348" cy="223961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D9E1F2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83422B5-336A-179E-7D1D-FA3286C3F23A}"/>
              </a:ext>
            </a:extLst>
          </p:cNvPr>
          <p:cNvSpPr txBox="1"/>
          <p:nvPr/>
        </p:nvSpPr>
        <p:spPr>
          <a:xfrm>
            <a:off x="437321" y="596348"/>
            <a:ext cx="64538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1F4E79"/>
                </a:solidFill>
              </a:rPr>
              <a:t>Problema de Pesquisa e Hipótese</a:t>
            </a:r>
            <a:endParaRPr lang="pt-BR" sz="3600" dirty="0">
              <a:solidFill>
                <a:srgbClr val="1F4E79"/>
              </a:solidFill>
              <a:effectLst/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310831D5-C3D1-0320-205F-83EF9AF4E69A}"/>
              </a:ext>
            </a:extLst>
          </p:cNvPr>
          <p:cNvSpPr/>
          <p:nvPr/>
        </p:nvSpPr>
        <p:spPr>
          <a:xfrm>
            <a:off x="574261" y="1457738"/>
            <a:ext cx="10756348" cy="146326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D9E1F2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ABB7FCC-7EA9-3C22-0BC0-EAE312E89767}"/>
              </a:ext>
            </a:extLst>
          </p:cNvPr>
          <p:cNvSpPr txBox="1"/>
          <p:nvPr/>
        </p:nvSpPr>
        <p:spPr>
          <a:xfrm>
            <a:off x="861391" y="1547577"/>
            <a:ext cx="996563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>
                <a:solidFill>
                  <a:srgbClr val="1F4E79"/>
                </a:solidFill>
              </a:rPr>
              <a:t>Problema Central</a:t>
            </a:r>
          </a:p>
          <a:p>
            <a:pPr algn="just"/>
            <a:br>
              <a:rPr lang="pt-BR" dirty="0"/>
            </a:br>
            <a:r>
              <a:rPr lang="pt-BR" dirty="0"/>
              <a:t>É possível prever, com elevada confiabilidade, a probabilidade de atraso em pedidos de e-commerce utilizando técnicas de aprendizado de máquina?</a:t>
            </a:r>
            <a:endParaRPr lang="pt-BR" dirty="0">
              <a:effectLst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59A80F3-FF8D-27CB-DE2D-723761BD6879}"/>
              </a:ext>
            </a:extLst>
          </p:cNvPr>
          <p:cNvSpPr txBox="1"/>
          <p:nvPr/>
        </p:nvSpPr>
        <p:spPr>
          <a:xfrm>
            <a:off x="861390" y="3494541"/>
            <a:ext cx="10147854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>
                <a:solidFill>
                  <a:srgbClr val="1F4E79"/>
                </a:solidFill>
              </a:rPr>
              <a:t>Hipótese</a:t>
            </a:r>
          </a:p>
          <a:p>
            <a:endParaRPr lang="pt-BR" b="1" dirty="0"/>
          </a:p>
          <a:p>
            <a:pPr algn="just"/>
            <a:r>
              <a:rPr lang="pt-BR" dirty="0"/>
              <a:t>Modelos de Gradient Boosting (XGBoost, LightGBM) apresentam desempenho superior aos modelos tradicionais na identificação de pedidos com risco de atraso, especialmente em bases desbalanceadas.</a:t>
            </a:r>
            <a:endParaRPr lang="pt-BR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92869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B6AD1-6F02-2CD6-9DB8-0E2D0DD53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0B4CF1B-6951-EC19-1B02-5BF5033263D9}"/>
              </a:ext>
            </a:extLst>
          </p:cNvPr>
          <p:cNvSpPr txBox="1"/>
          <p:nvPr/>
        </p:nvSpPr>
        <p:spPr>
          <a:xfrm>
            <a:off x="437321" y="596348"/>
            <a:ext cx="64538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1F4E79"/>
                </a:solidFill>
              </a:rPr>
              <a:t>Problema de Pesquisa e Hipótese</a:t>
            </a:r>
            <a:endParaRPr lang="pt-BR" sz="3600" dirty="0">
              <a:solidFill>
                <a:srgbClr val="1F4E79"/>
              </a:solidFill>
              <a:effectLst/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626C433B-6B2B-17F0-A4FF-2ACDA5F49688}"/>
              </a:ext>
            </a:extLst>
          </p:cNvPr>
          <p:cNvSpPr/>
          <p:nvPr/>
        </p:nvSpPr>
        <p:spPr>
          <a:xfrm>
            <a:off x="6181665" y="1555549"/>
            <a:ext cx="4967131" cy="455163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D9E1F2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8A3FE8A-BA2D-9428-47A3-84C9F5AD8725}"/>
              </a:ext>
            </a:extLst>
          </p:cNvPr>
          <p:cNvSpPr txBox="1"/>
          <p:nvPr/>
        </p:nvSpPr>
        <p:spPr>
          <a:xfrm>
            <a:off x="6503435" y="1799503"/>
            <a:ext cx="4323589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>
                <a:solidFill>
                  <a:srgbClr val="1F4E79"/>
                </a:solidFill>
              </a:rPr>
              <a:t>    Problema Central e Hipótese</a:t>
            </a:r>
          </a:p>
          <a:p>
            <a:endParaRPr lang="pt-BR" sz="2200" b="1" dirty="0">
              <a:solidFill>
                <a:srgbClr val="1F4E79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É possível prever, com elevada confiabilidade, a probabilidade de atraso em pedidos de e-commerce utilizando técnicas de aprendizado de máquina?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>
              <a:effectLst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Modelos de Gradient Boosting (XGBoost, LightGBM) apresentam desempenho superior aos modelos tradicionais na identificação de pedidos com risco de atraso, especialmente em bases desbalanceadas</a:t>
            </a:r>
            <a:endParaRPr lang="pt-BR" dirty="0">
              <a:effectLst/>
            </a:endParaRPr>
          </a:p>
        </p:txBody>
      </p:sp>
      <p:pic>
        <p:nvPicPr>
          <p:cNvPr id="7" name="Imagem 6" descr="What is Machine Learning? - Let's Talk Science">
            <a:extLst>
              <a:ext uri="{FF2B5EF4-FFF2-40B4-BE49-F238E27FC236}">
                <a16:creationId xmlns:a16="http://schemas.microsoft.com/office/drawing/2014/main" id="{16CE5FA0-D68F-26E0-1A76-2CC15E3B6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49" y="1555549"/>
            <a:ext cx="5066471" cy="4425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627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5A9B4-B7C7-7FD4-71B8-4938B97BD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2A3BEB57-D9B2-01AD-B166-FD02291BA7DE}"/>
              </a:ext>
            </a:extLst>
          </p:cNvPr>
          <p:cNvSpPr/>
          <p:nvPr/>
        </p:nvSpPr>
        <p:spPr>
          <a:xfrm>
            <a:off x="574262" y="3286539"/>
            <a:ext cx="5031408" cy="297511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200" b="1" dirty="0">
                <a:solidFill>
                  <a:srgbClr val="1F4E79"/>
                </a:solidFill>
              </a:rPr>
              <a:t>1. Avaliação de Modelos</a:t>
            </a:r>
          </a:p>
          <a:p>
            <a:endParaRPr lang="pt-BR" dirty="0"/>
          </a:p>
          <a:p>
            <a:pPr algn="just"/>
            <a:r>
              <a:rPr lang="pt-BR" dirty="0"/>
              <a:t>Avaliar o desempenho preditivo com foco em métricas adequadas para bases desbalanceadas: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b="1" dirty="0"/>
              <a:t>F1-score</a:t>
            </a:r>
            <a:r>
              <a:rPr lang="pt-BR" dirty="0"/>
              <a:t>  (Métrica Principal)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Acurácia Balanceada.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Precisão e Revocação (Recall).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AUC-ROC.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Matriz de Confusão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ROC-AUC</a:t>
            </a:r>
            <a:endParaRPr lang="pt-BR" dirty="0">
              <a:solidFill>
                <a:srgbClr val="D9E1F2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09EC21E-D9D4-7C60-76F0-A03C808FC130}"/>
              </a:ext>
            </a:extLst>
          </p:cNvPr>
          <p:cNvSpPr txBox="1"/>
          <p:nvPr/>
        </p:nvSpPr>
        <p:spPr>
          <a:xfrm>
            <a:off x="437321" y="596348"/>
            <a:ext cx="64538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1F4E79"/>
                </a:solidFill>
              </a:rPr>
              <a:t>Objetivos da Pesquisa</a:t>
            </a:r>
            <a:endParaRPr lang="pt-BR" sz="3600" dirty="0">
              <a:solidFill>
                <a:srgbClr val="1F4E79"/>
              </a:solidFill>
              <a:effectLst/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76D19DCE-DEDD-1A53-B2B9-1DA14CC791EA}"/>
              </a:ext>
            </a:extLst>
          </p:cNvPr>
          <p:cNvSpPr/>
          <p:nvPr/>
        </p:nvSpPr>
        <p:spPr>
          <a:xfrm>
            <a:off x="574261" y="1457738"/>
            <a:ext cx="10756348" cy="1463261"/>
          </a:xfrm>
          <a:prstGeom prst="roundRect">
            <a:avLst/>
          </a:prstGeom>
          <a:solidFill>
            <a:srgbClr val="0046B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D9E1F2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47D785D-B9AA-6B84-B9F6-912DE9293867}"/>
              </a:ext>
            </a:extLst>
          </p:cNvPr>
          <p:cNvSpPr txBox="1"/>
          <p:nvPr/>
        </p:nvSpPr>
        <p:spPr>
          <a:xfrm>
            <a:off x="861391" y="1547577"/>
            <a:ext cx="9965635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200" b="1" dirty="0">
                <a:solidFill>
                  <a:schemeClr val="bg1"/>
                </a:solidFill>
              </a:rPr>
              <a:t>Objetivo Geral</a:t>
            </a:r>
          </a:p>
          <a:p>
            <a:pPr algn="ctr"/>
            <a:br>
              <a:rPr lang="pt-BR" dirty="0">
                <a:solidFill>
                  <a:schemeClr val="bg1"/>
                </a:solidFill>
              </a:rPr>
            </a:br>
            <a:r>
              <a:rPr lang="pt-BR" dirty="0">
                <a:solidFill>
                  <a:schemeClr val="bg1"/>
                </a:solidFill>
              </a:rPr>
              <a:t>Desenvolver um modelo preditivo baseado em Machine Learning capaz de identificar pedidos com probabilidade de atraso usando dados da Olist.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F4F23A46-CAD8-CADD-2272-032F1DB99742}"/>
              </a:ext>
            </a:extLst>
          </p:cNvPr>
          <p:cNvSpPr/>
          <p:nvPr/>
        </p:nvSpPr>
        <p:spPr>
          <a:xfrm>
            <a:off x="5795618" y="3286539"/>
            <a:ext cx="4766366" cy="297511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200" b="1" dirty="0">
                <a:solidFill>
                  <a:srgbClr val="1F4E79"/>
                </a:solidFill>
              </a:rPr>
              <a:t>2. Visualização de Dados</a:t>
            </a:r>
          </a:p>
          <a:p>
            <a:endParaRPr lang="pt-BR" dirty="0"/>
          </a:p>
          <a:p>
            <a:pPr algn="just"/>
            <a:r>
              <a:rPr lang="pt-BR" dirty="0"/>
              <a:t>Integrar e apresentar os resultados obtidos por meio de painéis e relatórios visuais.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Dashboards interativos no </a:t>
            </a:r>
            <a:r>
              <a:rPr lang="pt-BR" b="1" dirty="0"/>
              <a:t>Power BI</a:t>
            </a:r>
            <a:r>
              <a:rPr lang="pt-BR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Apoio direto à tomada de decisão na gestão logística da empresa.</a:t>
            </a:r>
          </a:p>
          <a:p>
            <a:pPr algn="ctr"/>
            <a:endParaRPr lang="pt-BR" dirty="0">
              <a:solidFill>
                <a:srgbClr val="D9E1F2"/>
              </a:solidFill>
            </a:endParaRPr>
          </a:p>
          <a:p>
            <a:pPr algn="ctr"/>
            <a:endParaRPr lang="pt-BR" dirty="0">
              <a:solidFill>
                <a:srgbClr val="D9E1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588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BA9EB-D71F-BC72-E4E6-DBC76AAD5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86BC3FC0-34E1-9FFE-BA96-683043D18638}"/>
              </a:ext>
            </a:extLst>
          </p:cNvPr>
          <p:cNvSpPr/>
          <p:nvPr/>
        </p:nvSpPr>
        <p:spPr>
          <a:xfrm>
            <a:off x="504825" y="3114040"/>
            <a:ext cx="5220000" cy="297511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200" b="1" dirty="0">
                <a:solidFill>
                  <a:srgbClr val="1F4E79"/>
                </a:solidFill>
              </a:rPr>
              <a:t>1. Avaliação de Modelos</a:t>
            </a:r>
          </a:p>
          <a:p>
            <a:pPr algn="just"/>
            <a:endParaRPr lang="pt-B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b="1" dirty="0"/>
              <a:t>F1-score</a:t>
            </a:r>
            <a:r>
              <a:rPr lang="pt-BR" dirty="0"/>
              <a:t>  (Métrica Principal)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Acurácia Balanceada.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Precisão e Revocação (Recall).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AUC-ROC.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Matriz de Confusão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ROC-AUC</a:t>
            </a:r>
            <a:endParaRPr lang="pt-BR" dirty="0">
              <a:solidFill>
                <a:srgbClr val="D9E1F2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438E40E-08AA-B431-DC85-C78616EB6896}"/>
              </a:ext>
            </a:extLst>
          </p:cNvPr>
          <p:cNvSpPr txBox="1"/>
          <p:nvPr/>
        </p:nvSpPr>
        <p:spPr>
          <a:xfrm>
            <a:off x="437321" y="596348"/>
            <a:ext cx="64538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1F4E79"/>
                </a:solidFill>
              </a:rPr>
              <a:t>Objetivos da Pesquisa</a:t>
            </a:r>
            <a:endParaRPr lang="pt-BR" sz="3600" dirty="0">
              <a:solidFill>
                <a:srgbClr val="1F4E79"/>
              </a:solidFill>
              <a:effectLst/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8A61683B-68F6-EAAD-D3CA-CA055E4E7583}"/>
              </a:ext>
            </a:extLst>
          </p:cNvPr>
          <p:cNvSpPr/>
          <p:nvPr/>
        </p:nvSpPr>
        <p:spPr>
          <a:xfrm>
            <a:off x="504826" y="1446888"/>
            <a:ext cx="10585036" cy="1463261"/>
          </a:xfrm>
          <a:prstGeom prst="roundRect">
            <a:avLst/>
          </a:prstGeom>
          <a:solidFill>
            <a:srgbClr val="0046B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D9E1F2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F59A829-75C6-F2A1-049E-BA286D938A88}"/>
              </a:ext>
            </a:extLst>
          </p:cNvPr>
          <p:cNvSpPr txBox="1"/>
          <p:nvPr/>
        </p:nvSpPr>
        <p:spPr>
          <a:xfrm>
            <a:off x="437321" y="1547576"/>
            <a:ext cx="10475527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200" b="1" dirty="0">
                <a:solidFill>
                  <a:schemeClr val="bg1"/>
                </a:solidFill>
              </a:rPr>
              <a:t>Objetivo Geral</a:t>
            </a:r>
          </a:p>
          <a:p>
            <a:pPr algn="ctr"/>
            <a:br>
              <a:rPr lang="pt-BR" dirty="0">
                <a:solidFill>
                  <a:schemeClr val="bg1"/>
                </a:solidFill>
              </a:rPr>
            </a:br>
            <a:r>
              <a:rPr lang="pt-BR" dirty="0">
                <a:solidFill>
                  <a:schemeClr val="bg1"/>
                </a:solidFill>
              </a:rPr>
              <a:t>Desenvolver um modelo preditivo baseado em Machine Learning capaz de identificar pedidos com probabilidade de atraso usando dados da Olist.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FA845BB0-5D24-6372-4F4B-A371F084380E}"/>
              </a:ext>
            </a:extLst>
          </p:cNvPr>
          <p:cNvSpPr/>
          <p:nvPr/>
        </p:nvSpPr>
        <p:spPr>
          <a:xfrm>
            <a:off x="5972175" y="3114040"/>
            <a:ext cx="5117687" cy="297511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200" b="1" dirty="0">
                <a:solidFill>
                  <a:srgbClr val="1F4E79"/>
                </a:solidFill>
              </a:rPr>
              <a:t>2. Visualização de Dados</a:t>
            </a:r>
          </a:p>
          <a:p>
            <a:endParaRPr lang="pt-B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Dashboards interativos no </a:t>
            </a:r>
            <a:r>
              <a:rPr lang="pt-BR" b="1" dirty="0"/>
              <a:t>Power BI</a:t>
            </a:r>
            <a:r>
              <a:rPr lang="pt-BR" dirty="0"/>
              <a:t>.</a:t>
            </a:r>
          </a:p>
          <a:p>
            <a:pPr algn="just"/>
            <a:endParaRPr lang="pt-BR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dirty="0"/>
              <a:t>Apoio direto à tomada de decisão na gestão logística da empresa.</a:t>
            </a:r>
          </a:p>
          <a:p>
            <a:pPr algn="ctr"/>
            <a:endParaRPr lang="pt-BR" dirty="0">
              <a:solidFill>
                <a:srgbClr val="D9E1F2"/>
              </a:solidFill>
            </a:endParaRPr>
          </a:p>
          <a:p>
            <a:pPr algn="ctr"/>
            <a:endParaRPr lang="pt-BR" dirty="0">
              <a:solidFill>
                <a:srgbClr val="D9E1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069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FBACB-5306-F0A4-F7A6-3ABD62958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D1678918-DA34-91E8-FC4E-907EAD7C368E}"/>
              </a:ext>
            </a:extLst>
          </p:cNvPr>
          <p:cNvSpPr/>
          <p:nvPr/>
        </p:nvSpPr>
        <p:spPr>
          <a:xfrm>
            <a:off x="905069" y="2279373"/>
            <a:ext cx="4654218" cy="211477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pt-BR" b="1" dirty="0">
                <a:solidFill>
                  <a:srgbClr val="1A587E"/>
                </a:solidFill>
              </a:rPr>
              <a:t>Engenharia de Atributos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Variáveis logísticas e temporais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Distância (</a:t>
            </a:r>
            <a:r>
              <a:rPr lang="pt-BR" dirty="0" err="1"/>
              <a:t>Haversine</a:t>
            </a:r>
            <a:r>
              <a:rPr lang="pt-BR" dirty="0"/>
              <a:t> → </a:t>
            </a:r>
            <a:r>
              <a:rPr lang="pt-BR" dirty="0" err="1"/>
              <a:t>distance_km</a:t>
            </a:r>
            <a:r>
              <a:rPr lang="pt-BR" dirty="0"/>
              <a:t>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Lead time e etapas operacionais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Sazonalidade (mês, dia da semana)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33C6C0E-7F6D-D843-2B51-4993D3900BEA}"/>
              </a:ext>
            </a:extLst>
          </p:cNvPr>
          <p:cNvSpPr txBox="1"/>
          <p:nvPr/>
        </p:nvSpPr>
        <p:spPr>
          <a:xfrm>
            <a:off x="437321" y="596348"/>
            <a:ext cx="64538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1F4E79"/>
                </a:solidFill>
              </a:rPr>
              <a:t>Pipeline Metodológico de Dados</a:t>
            </a:r>
            <a:endParaRPr lang="pt-BR" sz="3600" dirty="0">
              <a:solidFill>
                <a:srgbClr val="1F4E79"/>
              </a:solidFill>
              <a:effectLst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0A9152F-5B3F-6A71-3DB1-AFE71672280A}"/>
              </a:ext>
            </a:extLst>
          </p:cNvPr>
          <p:cNvSpPr txBox="1"/>
          <p:nvPr/>
        </p:nvSpPr>
        <p:spPr>
          <a:xfrm>
            <a:off x="437321" y="1347641"/>
            <a:ext cx="102080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pesquisa adotou uma modelagem estruturada em quatro pilares para garantir a robustez na previsão de atrasos em dados reais desbalanceados.</a:t>
            </a:r>
          </a:p>
          <a:p>
            <a:pPr algn="ctr"/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A7255F0A-BE91-D453-C324-17DC58640823}"/>
              </a:ext>
            </a:extLst>
          </p:cNvPr>
          <p:cNvSpPr/>
          <p:nvPr/>
        </p:nvSpPr>
        <p:spPr>
          <a:xfrm>
            <a:off x="905069" y="4499113"/>
            <a:ext cx="4654219" cy="211477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b="1" dirty="0">
                <a:solidFill>
                  <a:srgbClr val="1A587E"/>
                </a:solidFill>
              </a:rPr>
              <a:t>3. Estratégia de Validação</a:t>
            </a:r>
            <a:r>
              <a:rPr lang="pt-BR" dirty="0">
                <a:solidFill>
                  <a:srgbClr val="1A587E"/>
                </a:solidFill>
              </a:rPr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 err="1"/>
              <a:t>Holdout</a:t>
            </a:r>
            <a:r>
              <a:rPr lang="pt-BR" dirty="0"/>
              <a:t>: 80% Treino / 20% Teste.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Estratificação (</a:t>
            </a:r>
            <a:r>
              <a:rPr lang="pt-BR" b="1" dirty="0" err="1"/>
              <a:t>stratify</a:t>
            </a:r>
            <a:r>
              <a:rPr lang="pt-BR" b="1" dirty="0"/>
              <a:t>=y)</a:t>
            </a:r>
            <a:r>
              <a:rPr lang="pt-BR" dirty="0"/>
              <a:t>: Preservação da proporção da variável alvo.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Validação Cruzada</a:t>
            </a:r>
            <a:r>
              <a:rPr lang="pt-BR" dirty="0"/>
              <a:t>: </a:t>
            </a:r>
            <a:r>
              <a:rPr lang="pt-BR" dirty="0" err="1"/>
              <a:t>Stratified</a:t>
            </a:r>
            <a:r>
              <a:rPr lang="pt-BR" dirty="0"/>
              <a:t> K-</a:t>
            </a:r>
            <a:r>
              <a:rPr lang="pt-BR" dirty="0" err="1"/>
              <a:t>Fold</a:t>
            </a:r>
            <a:r>
              <a:rPr lang="pt-BR" dirty="0"/>
              <a:t> (k=5) para avaliação robusta.</a:t>
            </a:r>
            <a:endParaRPr lang="pt-BR" dirty="0">
              <a:solidFill>
                <a:srgbClr val="D9E1F2"/>
              </a:solidFill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1F19BADF-14BE-F6E5-C495-02BC8C9DA8B0}"/>
              </a:ext>
            </a:extLst>
          </p:cNvPr>
          <p:cNvSpPr/>
          <p:nvPr/>
        </p:nvSpPr>
        <p:spPr>
          <a:xfrm>
            <a:off x="5744816" y="2279373"/>
            <a:ext cx="4900545" cy="211477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b="1" dirty="0">
                <a:solidFill>
                  <a:srgbClr val="1A587E"/>
                </a:solidFill>
              </a:rPr>
              <a:t>2. Pré-processamento</a:t>
            </a:r>
            <a:r>
              <a:rPr lang="pt-BR" dirty="0">
                <a:solidFill>
                  <a:srgbClr val="1A587E"/>
                </a:solidFill>
              </a:rPr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>
                <a:solidFill>
                  <a:schemeClr val="tx1"/>
                </a:solidFill>
              </a:rPr>
              <a:t>StandardScaler:Padronização</a:t>
            </a:r>
            <a:r>
              <a:rPr lang="pt-BR" dirty="0">
                <a:solidFill>
                  <a:schemeClr val="tx1"/>
                </a:solidFill>
              </a:rPr>
              <a:t> para algoritmos sensíveis (Regressão Logística, KNN, SVM).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tx1"/>
                </a:solidFill>
              </a:rPr>
              <a:t>Lidando com o desbalanceamento através de pesos (</a:t>
            </a:r>
            <a:r>
              <a:rPr lang="pt-BR" dirty="0" err="1">
                <a:solidFill>
                  <a:schemeClr val="tx1"/>
                </a:solidFill>
              </a:rPr>
              <a:t>scale_pos_weight</a:t>
            </a:r>
            <a:r>
              <a:rPr lang="pt-BR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326E60A5-E8B0-1313-A8A0-8971EE70D5CA}"/>
              </a:ext>
            </a:extLst>
          </p:cNvPr>
          <p:cNvSpPr/>
          <p:nvPr/>
        </p:nvSpPr>
        <p:spPr>
          <a:xfrm>
            <a:off x="5744816" y="4499113"/>
            <a:ext cx="4900545" cy="211477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b="1" dirty="0">
                <a:solidFill>
                  <a:srgbClr val="1A587E"/>
                </a:solidFill>
              </a:rPr>
              <a:t>4. Otimização de Hiperparâmetros</a:t>
            </a:r>
            <a:r>
              <a:rPr lang="pt-BR" dirty="0">
                <a:solidFill>
                  <a:srgbClr val="1A587E"/>
                </a:solidFill>
              </a:rPr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Busca exaustiva via </a:t>
            </a:r>
            <a:r>
              <a:rPr lang="pt-BR" b="1" dirty="0"/>
              <a:t>Grid Search</a:t>
            </a:r>
            <a:r>
              <a:rPr lang="pt-BR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Ajustes no XGBoost: </a:t>
            </a:r>
            <a:r>
              <a:rPr lang="pt-BR" dirty="0" err="1"/>
              <a:t>max_depth</a:t>
            </a:r>
            <a:r>
              <a:rPr lang="pt-BR" dirty="0"/>
              <a:t> (3-7), </a:t>
            </a:r>
            <a:r>
              <a:rPr lang="pt-BR" dirty="0" err="1"/>
              <a:t>learning_rate</a:t>
            </a:r>
            <a:r>
              <a:rPr lang="pt-BR" dirty="0"/>
              <a:t> (0,01-0,1), </a:t>
            </a:r>
            <a:r>
              <a:rPr lang="pt-BR" dirty="0" err="1"/>
              <a:t>n_estimators</a:t>
            </a:r>
            <a:r>
              <a:rPr lang="pt-BR" dirty="0"/>
              <a:t> (100-200).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 Métrica alvo de otimização: </a:t>
            </a:r>
            <a:r>
              <a:rPr lang="pt-BR" b="1" dirty="0"/>
              <a:t>F1-score</a:t>
            </a:r>
            <a:r>
              <a:rPr lang="pt-BR" dirty="0"/>
              <a:t>.</a:t>
            </a:r>
            <a:endParaRPr lang="pt-BR" dirty="0">
              <a:solidFill>
                <a:srgbClr val="D9E1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0910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C1A50-85C0-9EFE-1CBA-BA1138033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5BAC2BED-5181-3159-017A-020276231FD1}"/>
              </a:ext>
            </a:extLst>
          </p:cNvPr>
          <p:cNvSpPr/>
          <p:nvPr/>
        </p:nvSpPr>
        <p:spPr>
          <a:xfrm>
            <a:off x="297362" y="2394771"/>
            <a:ext cx="2184581" cy="335498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endParaRPr lang="pt-BR" sz="1500" b="1" dirty="0">
              <a:solidFill>
                <a:srgbClr val="1A587E"/>
              </a:solidFill>
            </a:endParaRPr>
          </a:p>
          <a:p>
            <a:pPr marL="342900" indent="-342900">
              <a:buAutoNum type="arabicPeriod"/>
            </a:pPr>
            <a:endParaRPr lang="pt-BR" sz="1500" b="1" dirty="0">
              <a:solidFill>
                <a:srgbClr val="1A587E"/>
              </a:solidFill>
            </a:endParaRPr>
          </a:p>
          <a:p>
            <a:pPr marL="342900" indent="-342900">
              <a:buAutoNum type="arabicPeriod"/>
            </a:pPr>
            <a:r>
              <a:rPr lang="pt-BR" sz="1500" b="1" dirty="0">
                <a:solidFill>
                  <a:srgbClr val="1A587E"/>
                </a:solidFill>
              </a:rPr>
              <a:t>Engenharia de Atributos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500" dirty="0"/>
              <a:t>Variáveis logísticas e temporais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500" dirty="0"/>
              <a:t>Distância em Km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500" dirty="0"/>
              <a:t>Lead time e etapas operacionais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500" dirty="0"/>
              <a:t>Sazonalidade (mês, dia da semana)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21C0FF0-DABF-5EF9-81D7-FF3721368742}"/>
              </a:ext>
            </a:extLst>
          </p:cNvPr>
          <p:cNvSpPr txBox="1"/>
          <p:nvPr/>
        </p:nvSpPr>
        <p:spPr>
          <a:xfrm>
            <a:off x="297362" y="596348"/>
            <a:ext cx="64538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1F4E79"/>
                </a:solidFill>
              </a:rPr>
              <a:t>Pipeline Metodológico de Dados</a:t>
            </a:r>
            <a:endParaRPr lang="pt-BR" sz="3600" dirty="0">
              <a:solidFill>
                <a:srgbClr val="1F4E79"/>
              </a:solidFill>
              <a:effectLst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C503E48-41DE-4C51-2C5D-1603BB1BF1DA}"/>
              </a:ext>
            </a:extLst>
          </p:cNvPr>
          <p:cNvSpPr txBox="1"/>
          <p:nvPr/>
        </p:nvSpPr>
        <p:spPr>
          <a:xfrm>
            <a:off x="297362" y="1347750"/>
            <a:ext cx="113866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pesquisa adotou uma modelagem estruturada em quatro pilares para garantir a robustez na previsão de atrasos em dados reais desbalanceados.</a:t>
            </a:r>
          </a:p>
          <a:p>
            <a:pPr algn="ctr"/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347B8232-7FDA-CA9B-913D-1AF94884DA10}"/>
              </a:ext>
            </a:extLst>
          </p:cNvPr>
          <p:cNvSpPr/>
          <p:nvPr/>
        </p:nvSpPr>
        <p:spPr>
          <a:xfrm>
            <a:off x="6025960" y="2376151"/>
            <a:ext cx="2497097" cy="335498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pt-BR" sz="1500" b="1" dirty="0">
              <a:solidFill>
                <a:srgbClr val="1A587E"/>
              </a:solidFill>
            </a:endParaRPr>
          </a:p>
          <a:p>
            <a:r>
              <a:rPr lang="pt-BR" sz="1500" b="1" dirty="0">
                <a:solidFill>
                  <a:srgbClr val="1A587E"/>
                </a:solidFill>
              </a:rPr>
              <a:t>3. Estratégia de Validação</a:t>
            </a:r>
            <a:r>
              <a:rPr lang="pt-BR" sz="1500" dirty="0">
                <a:solidFill>
                  <a:srgbClr val="1A587E"/>
                </a:solidFill>
              </a:rPr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500" dirty="0" err="1"/>
              <a:t>Holdout</a:t>
            </a:r>
            <a:r>
              <a:rPr lang="pt-BR" sz="1500" dirty="0"/>
              <a:t>: 80% Treino / 20% Teste.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500" dirty="0"/>
              <a:t>Estratificação (</a:t>
            </a:r>
            <a:r>
              <a:rPr lang="pt-BR" sz="1500" dirty="0" err="1"/>
              <a:t>stratify</a:t>
            </a:r>
            <a:r>
              <a:rPr lang="pt-BR" sz="1500" dirty="0"/>
              <a:t>=y)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500" dirty="0"/>
              <a:t>Validação Cruzada: </a:t>
            </a:r>
            <a:r>
              <a:rPr lang="pt-BR" sz="1500" dirty="0" err="1"/>
              <a:t>Stratified</a:t>
            </a:r>
            <a:r>
              <a:rPr lang="pt-BR" sz="1500" dirty="0"/>
              <a:t> K-</a:t>
            </a:r>
            <a:r>
              <a:rPr lang="pt-BR" sz="1500" dirty="0" err="1"/>
              <a:t>Fold</a:t>
            </a:r>
            <a:endParaRPr lang="pt-BR" dirty="0">
              <a:solidFill>
                <a:srgbClr val="D9E1F2"/>
              </a:solidFill>
            </a:endParaRP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4AA761B4-F5B8-4903-9A06-368CFADC278A}"/>
              </a:ext>
            </a:extLst>
          </p:cNvPr>
          <p:cNvSpPr/>
          <p:nvPr/>
        </p:nvSpPr>
        <p:spPr>
          <a:xfrm>
            <a:off x="2974709" y="2394771"/>
            <a:ext cx="2527791" cy="335498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pt-BR" sz="1500" b="1" dirty="0">
              <a:solidFill>
                <a:srgbClr val="1A587E"/>
              </a:solidFill>
            </a:endParaRPr>
          </a:p>
          <a:p>
            <a:endParaRPr lang="pt-BR" sz="1500" b="1" dirty="0">
              <a:solidFill>
                <a:srgbClr val="1A587E"/>
              </a:solidFill>
            </a:endParaRPr>
          </a:p>
          <a:p>
            <a:r>
              <a:rPr lang="pt-BR" sz="1500" b="1" dirty="0">
                <a:solidFill>
                  <a:srgbClr val="1A587E"/>
                </a:solidFill>
              </a:rPr>
              <a:t>2. Pré-processamento</a:t>
            </a:r>
            <a:r>
              <a:rPr lang="pt-BR" sz="1500" dirty="0">
                <a:solidFill>
                  <a:srgbClr val="1A587E"/>
                </a:solidFill>
              </a:rPr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500" dirty="0">
                <a:solidFill>
                  <a:schemeClr val="tx1"/>
                </a:solidFill>
              </a:rPr>
              <a:t>Padronização dos dados usando o StandardScaler.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500" dirty="0">
                <a:solidFill>
                  <a:schemeClr val="tx1"/>
                </a:solidFill>
              </a:rPr>
              <a:t>Hiperpâmetros específicos para lidar com dados desbalanceados.</a:t>
            </a: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52761EC7-FD48-8F0B-EACA-87950C7AF440}"/>
              </a:ext>
            </a:extLst>
          </p:cNvPr>
          <p:cNvSpPr/>
          <p:nvPr/>
        </p:nvSpPr>
        <p:spPr>
          <a:xfrm>
            <a:off x="9046518" y="2357533"/>
            <a:ext cx="2527200" cy="33552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pt-BR" sz="1500" b="1" dirty="0">
              <a:solidFill>
                <a:srgbClr val="1A587E"/>
              </a:solidFill>
            </a:endParaRPr>
          </a:p>
          <a:p>
            <a:r>
              <a:rPr lang="pt-BR" sz="1500" b="1" dirty="0">
                <a:solidFill>
                  <a:srgbClr val="1A587E"/>
                </a:solidFill>
              </a:rPr>
              <a:t>4. Otimização de Hiperparâmetros</a:t>
            </a:r>
            <a:r>
              <a:rPr lang="pt-BR" sz="1500" dirty="0">
                <a:solidFill>
                  <a:srgbClr val="1A587E"/>
                </a:solidFill>
              </a:rPr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500" dirty="0"/>
              <a:t>Busca exaustiva via Grid Search.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500" dirty="0"/>
              <a:t>Ajustes no XGBoost.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500" dirty="0"/>
              <a:t> Métrica alvo de otimização: F1-score.</a:t>
            </a:r>
            <a:endParaRPr lang="pt-BR" sz="1500" dirty="0">
              <a:solidFill>
                <a:srgbClr val="D9E1F2"/>
              </a:solidFill>
            </a:endParaRPr>
          </a:p>
        </p:txBody>
      </p:sp>
      <p:sp>
        <p:nvSpPr>
          <p:cNvPr id="19" name="Seta: para a Direita 18">
            <a:extLst>
              <a:ext uri="{FF2B5EF4-FFF2-40B4-BE49-F238E27FC236}">
                <a16:creationId xmlns:a16="http://schemas.microsoft.com/office/drawing/2014/main" id="{965DC02E-7B74-33A0-BC0D-92DB90111C92}"/>
              </a:ext>
            </a:extLst>
          </p:cNvPr>
          <p:cNvSpPr/>
          <p:nvPr/>
        </p:nvSpPr>
        <p:spPr>
          <a:xfrm>
            <a:off x="2481942" y="3911600"/>
            <a:ext cx="492765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Seta: para a Direita 20">
            <a:extLst>
              <a:ext uri="{FF2B5EF4-FFF2-40B4-BE49-F238E27FC236}">
                <a16:creationId xmlns:a16="http://schemas.microsoft.com/office/drawing/2014/main" id="{1A8A0CF8-E89D-1F3C-5EF9-0899F089A6A9}"/>
              </a:ext>
            </a:extLst>
          </p:cNvPr>
          <p:cNvSpPr/>
          <p:nvPr/>
        </p:nvSpPr>
        <p:spPr>
          <a:xfrm>
            <a:off x="5502499" y="3919864"/>
            <a:ext cx="523461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Seta: para a Direita 22">
            <a:extLst>
              <a:ext uri="{FF2B5EF4-FFF2-40B4-BE49-F238E27FC236}">
                <a16:creationId xmlns:a16="http://schemas.microsoft.com/office/drawing/2014/main" id="{B23AB0E8-2940-71FA-F1A0-427D6A9472BB}"/>
              </a:ext>
            </a:extLst>
          </p:cNvPr>
          <p:cNvSpPr/>
          <p:nvPr/>
        </p:nvSpPr>
        <p:spPr>
          <a:xfrm>
            <a:off x="8553751" y="3911600"/>
            <a:ext cx="492766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9" name="Imagem 28">
            <a:extLst>
              <a:ext uri="{FF2B5EF4-FFF2-40B4-BE49-F238E27FC236}">
                <a16:creationId xmlns:a16="http://schemas.microsoft.com/office/drawing/2014/main" id="{C6AEAFE4-2986-BFB8-3152-FBD3BDE33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5433" y="2485405"/>
            <a:ext cx="1186341" cy="847075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3E128565-11AD-4F97-A922-35158A751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6922" y="2485405"/>
            <a:ext cx="1195171" cy="657218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1D95AD4A-90FD-D012-5252-0D6900CFEA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3443" y="2485405"/>
            <a:ext cx="1382717" cy="645442"/>
          </a:xfrm>
          <a:prstGeom prst="rect">
            <a:avLst/>
          </a:prstGeom>
        </p:spPr>
      </p:pic>
      <p:pic>
        <p:nvPicPr>
          <p:cNvPr id="41" name="Imagem 40">
            <a:extLst>
              <a:ext uri="{FF2B5EF4-FFF2-40B4-BE49-F238E27FC236}">
                <a16:creationId xmlns:a16="http://schemas.microsoft.com/office/drawing/2014/main" id="{F580A936-5968-DCBE-F3CC-B9D97C228F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668" y="2485405"/>
            <a:ext cx="1198211" cy="79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618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97D84-B151-29FF-03EC-232ABEA04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351896C-01D2-94CF-F8C1-3ECF6B59CC6F}"/>
              </a:ext>
            </a:extLst>
          </p:cNvPr>
          <p:cNvSpPr txBox="1"/>
          <p:nvPr/>
        </p:nvSpPr>
        <p:spPr>
          <a:xfrm>
            <a:off x="437321" y="596348"/>
            <a:ext cx="64538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1F4E79"/>
                </a:solidFill>
              </a:rPr>
              <a:t>Estrutura da Base de Dados e ETL</a:t>
            </a:r>
            <a:endParaRPr lang="pt-BR" sz="3600" dirty="0">
              <a:solidFill>
                <a:srgbClr val="1F4E79"/>
              </a:solidFill>
              <a:effectLst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164DE90-ECF7-C593-0C12-9BDB4F80C6C2}"/>
              </a:ext>
            </a:extLst>
          </p:cNvPr>
          <p:cNvSpPr txBox="1"/>
          <p:nvPr/>
        </p:nvSpPr>
        <p:spPr>
          <a:xfrm>
            <a:off x="437321" y="1347641"/>
            <a:ext cx="10208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Foram integradas as bases do </a:t>
            </a:r>
            <a:r>
              <a:rPr lang="pt-BR" b="1" dirty="0" err="1"/>
              <a:t>Brazilian</a:t>
            </a:r>
            <a:r>
              <a:rPr lang="pt-BR" b="1" dirty="0"/>
              <a:t> E-commerce </a:t>
            </a:r>
            <a:r>
              <a:rPr lang="pt-BR" b="1" dirty="0" err="1"/>
              <a:t>Public</a:t>
            </a:r>
            <a:r>
              <a:rPr lang="pt-BR" b="1" dirty="0"/>
              <a:t> </a:t>
            </a:r>
            <a:r>
              <a:rPr lang="pt-BR" b="1" dirty="0" err="1"/>
              <a:t>Dataset</a:t>
            </a:r>
            <a:r>
              <a:rPr lang="pt-BR" b="1" dirty="0"/>
              <a:t> (Olist)</a:t>
            </a:r>
            <a:r>
              <a:rPr lang="pt-BR" dirty="0"/>
              <a:t>, abrangendo o período de 2016 a 2018. O pré-processamento (ETL) garantiu a remoção de inconsistências, gerando a seguinte estrutura final:</a:t>
            </a:r>
            <a:endParaRPr lang="pt-BR" dirty="0">
              <a:solidFill>
                <a:schemeClr val="bg1"/>
              </a:solidFill>
            </a:endParaRPr>
          </a:p>
        </p:txBody>
      </p:sp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CB088ECA-A126-D180-C604-0984EE446D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183706"/>
              </p:ext>
            </p:extLst>
          </p:nvPr>
        </p:nvGraphicFramePr>
        <p:xfrm>
          <a:off x="437321" y="2332382"/>
          <a:ext cx="10208040" cy="3538332"/>
        </p:xfrm>
        <a:graphic>
          <a:graphicData uri="http://schemas.openxmlformats.org/drawingml/2006/table">
            <a:tbl>
              <a:tblPr firstRow="1" firstCol="1">
                <a:tableStyleId>{69012ECD-51FC-41F1-AA8D-1B2483CD663E}</a:tableStyleId>
              </a:tblPr>
              <a:tblGrid>
                <a:gridCol w="5254352">
                  <a:extLst>
                    <a:ext uri="{9D8B030D-6E8A-4147-A177-3AD203B41FA5}">
                      <a16:colId xmlns:a16="http://schemas.microsoft.com/office/drawing/2014/main" val="2439039143"/>
                    </a:ext>
                  </a:extLst>
                </a:gridCol>
                <a:gridCol w="4953688">
                  <a:extLst>
                    <a:ext uri="{9D8B030D-6E8A-4147-A177-3AD203B41FA5}">
                      <a16:colId xmlns:a16="http://schemas.microsoft.com/office/drawing/2014/main" val="3745671533"/>
                    </a:ext>
                  </a:extLst>
                </a:gridCol>
              </a:tblGrid>
              <a:tr h="50468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pt-BR" sz="1800" dirty="0">
                          <a:effectLst/>
                        </a:rPr>
                        <a:t>Descrição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solidFill>
                      <a:srgbClr val="0046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dirty="0">
                          <a:effectLst/>
                        </a:rPr>
                        <a:t>Quantidade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solidFill>
                      <a:srgbClr val="0046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0905380"/>
                  </a:ext>
                </a:extLst>
              </a:tr>
              <a:tr h="59047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pt-BR" sz="1800" b="0" dirty="0">
                          <a:effectLst/>
                        </a:rPr>
                        <a:t>Total de registros (linhas)</a:t>
                      </a:r>
                      <a:endParaRPr lang="pt-BR" sz="18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dirty="0">
                          <a:effectLst/>
                        </a:rPr>
                        <a:t>108.106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solidFill>
                      <a:srgbClr val="E9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3064405"/>
                  </a:ext>
                </a:extLst>
              </a:tr>
              <a:tr h="47793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pt-BR" sz="1800" b="0">
                          <a:effectLst/>
                        </a:rPr>
                        <a:t>Total de variáveis (colunas)</a:t>
                      </a:r>
                      <a:endParaRPr lang="pt-BR" sz="1800" b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>
                          <a:effectLst/>
                        </a:rPr>
                        <a:t>28</a:t>
                      </a:r>
                      <a:endParaRPr lang="pt-BR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723234210"/>
                  </a:ext>
                </a:extLst>
              </a:tr>
              <a:tr h="50468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pt-BR" sz="1800" b="0" dirty="0">
                          <a:effectLst/>
                        </a:rPr>
                        <a:t>Variáveis numéricas</a:t>
                      </a:r>
                      <a:endParaRPr lang="pt-BR" sz="18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dirty="0">
                          <a:effectLst/>
                        </a:rPr>
                        <a:t>14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560067"/>
                  </a:ext>
                </a:extLst>
              </a:tr>
              <a:tr h="47793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pt-BR" sz="1800" b="0">
                          <a:effectLst/>
                        </a:rPr>
                        <a:t>Variáveis categóricas</a:t>
                      </a:r>
                      <a:endParaRPr lang="pt-BR" sz="1800" b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>
                          <a:effectLst/>
                        </a:rPr>
                        <a:t>7</a:t>
                      </a:r>
                      <a:endParaRPr lang="pt-BR" sz="18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500172150"/>
                  </a:ext>
                </a:extLst>
              </a:tr>
              <a:tr h="50468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pt-BR" sz="1800" b="0" dirty="0">
                          <a:effectLst/>
                        </a:rPr>
                        <a:t>Variáveis temporais</a:t>
                      </a:r>
                      <a:endParaRPr lang="pt-BR" sz="18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dirty="0">
                          <a:effectLst/>
                        </a:rPr>
                        <a:t>6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solidFill>
                      <a:srgbClr val="E9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9906849"/>
                  </a:ext>
                </a:extLst>
              </a:tr>
              <a:tr h="47793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pt-BR" sz="1800" b="0" dirty="0">
                          <a:effectLst/>
                        </a:rPr>
                        <a:t>Variável alvo</a:t>
                      </a:r>
                      <a:endParaRPr lang="pt-BR" sz="1800" b="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dirty="0">
                          <a:effectLst/>
                        </a:rPr>
                        <a:t>1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587607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9238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B2506-99BA-7872-8667-8D8978238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84CDF2B-1E2A-A88B-0A9C-E9150E6A441D}"/>
              </a:ext>
            </a:extLst>
          </p:cNvPr>
          <p:cNvSpPr txBox="1"/>
          <p:nvPr/>
        </p:nvSpPr>
        <p:spPr>
          <a:xfrm>
            <a:off x="437321" y="596348"/>
            <a:ext cx="64538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1F4E79"/>
                </a:solidFill>
              </a:rPr>
              <a:t>Desbalanceamento das Classes</a:t>
            </a:r>
            <a:endParaRPr lang="pt-BR" sz="3600" dirty="0">
              <a:solidFill>
                <a:srgbClr val="1F4E79"/>
              </a:solidFill>
              <a:effectLst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19CA87E-ADE4-6DFA-4C01-F961D51CD74A}"/>
              </a:ext>
            </a:extLst>
          </p:cNvPr>
          <p:cNvSpPr txBox="1"/>
          <p:nvPr/>
        </p:nvSpPr>
        <p:spPr>
          <a:xfrm>
            <a:off x="6096000" y="1614489"/>
            <a:ext cx="459850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1A587E"/>
                </a:solidFill>
              </a:rPr>
              <a:t>O Desafio do Desbalanceamento</a:t>
            </a:r>
            <a:r>
              <a:rPr lang="pt-BR" dirty="0">
                <a:solidFill>
                  <a:srgbClr val="1A587E"/>
                </a:solidFill>
              </a:rPr>
              <a:t>: </a:t>
            </a:r>
          </a:p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 base de dados apresenta forte assimetria: Aproximadamente </a:t>
            </a:r>
            <a:r>
              <a:rPr lang="pt-BR" b="1" dirty="0"/>
              <a:t>92%</a:t>
            </a:r>
            <a:r>
              <a:rPr lang="pt-BR" dirty="0"/>
              <a:t> dos pedidos são entregues no prazo.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Apenas </a:t>
            </a:r>
            <a:r>
              <a:rPr lang="pt-BR" b="1" dirty="0"/>
              <a:t>8%</a:t>
            </a:r>
            <a:r>
              <a:rPr lang="pt-BR" dirty="0"/>
              <a:t> são classificados como atrasos.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r>
              <a:rPr lang="pt-BR" b="1" dirty="0">
                <a:solidFill>
                  <a:srgbClr val="1A587E"/>
                </a:solidFill>
              </a:rPr>
              <a:t>Implicação na Modelagem</a:t>
            </a:r>
            <a:r>
              <a:rPr lang="pt-BR" dirty="0">
                <a:solidFill>
                  <a:srgbClr val="1A587E"/>
                </a:solidFill>
              </a:rPr>
              <a:t>: </a:t>
            </a:r>
          </a:p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Métricas tradicionais como a acurácia simples mascaram o real desempenho. Para avaliar a detecção de atrasos, é crucial o uso de </a:t>
            </a:r>
            <a:r>
              <a:rPr lang="pt-BR" b="1" dirty="0"/>
              <a:t>Revocação (Recall)</a:t>
            </a:r>
            <a:r>
              <a:rPr lang="pt-BR" dirty="0"/>
              <a:t> e </a:t>
            </a:r>
            <a:r>
              <a:rPr lang="pt-BR" b="1" dirty="0"/>
              <a:t>F1-score</a:t>
            </a:r>
            <a:r>
              <a:rPr lang="pt-BR" dirty="0"/>
              <a:t>. 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928924E-0AF5-031A-9189-CB8AA623AF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6" y="1614489"/>
            <a:ext cx="4998416" cy="4118486"/>
          </a:xfrm>
          <a:prstGeom prst="rect">
            <a:avLst/>
          </a:prstGeom>
          <a:noFill/>
          <a:ln cap="rnd">
            <a:solidFill>
              <a:srgbClr val="F1F4F9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2101737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12D930-7B9C-DAC2-9502-DF2D62B68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1E12A7A-CCEF-7F3C-957A-D37F9334A891}"/>
              </a:ext>
            </a:extLst>
          </p:cNvPr>
          <p:cNvSpPr txBox="1"/>
          <p:nvPr/>
        </p:nvSpPr>
        <p:spPr>
          <a:xfrm>
            <a:off x="437321" y="596348"/>
            <a:ext cx="64538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1F4E79"/>
                </a:solidFill>
              </a:rPr>
              <a:t>Analise Exploratória</a:t>
            </a:r>
          </a:p>
          <a:p>
            <a:r>
              <a:rPr lang="pt-BR" sz="2000" dirty="0">
                <a:solidFill>
                  <a:srgbClr val="1F4E79"/>
                </a:solidFill>
                <a:effectLst/>
              </a:rPr>
              <a:t>Fatores de </a:t>
            </a:r>
            <a:r>
              <a:rPr lang="pt-BR" sz="2000" dirty="0">
                <a:solidFill>
                  <a:srgbClr val="1F4E79"/>
                </a:solidFill>
              </a:rPr>
              <a:t>Atraso</a:t>
            </a:r>
            <a:endParaRPr lang="pt-BR" sz="2000" dirty="0">
              <a:solidFill>
                <a:srgbClr val="1F4E79"/>
              </a:solidFill>
              <a:effectLst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7538B58-2E1C-48C4-E361-1ED81C633B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320" y="1740590"/>
            <a:ext cx="6122505" cy="2171010"/>
          </a:xfrm>
          <a:prstGeom prst="rect">
            <a:avLst/>
          </a:prstGeom>
          <a:noFill/>
          <a:ln cap="rnd">
            <a:solidFill>
              <a:srgbClr val="F1F4F9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0465E26-93A9-10CF-65A1-FEB2FA9CF6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320" y="4031702"/>
            <a:ext cx="4477579" cy="2585323"/>
          </a:xfrm>
          <a:prstGeom prst="rect">
            <a:avLst/>
          </a:prstGeom>
          <a:noFill/>
          <a:ln cap="rnd">
            <a:solidFill>
              <a:srgbClr val="F1F4F9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6F467B99-D5EF-825A-8CF6-5C53AD2CDF90}"/>
              </a:ext>
            </a:extLst>
          </p:cNvPr>
          <p:cNvSpPr txBox="1"/>
          <p:nvPr/>
        </p:nvSpPr>
        <p:spPr>
          <a:xfrm>
            <a:off x="6718300" y="1665445"/>
            <a:ext cx="45985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1A587E"/>
                </a:solidFill>
              </a:rPr>
              <a:t>Efeito da Distância</a:t>
            </a:r>
            <a:r>
              <a:rPr lang="pt-BR" dirty="0">
                <a:solidFill>
                  <a:srgbClr val="1A587E"/>
                </a:solidFill>
              </a:rPr>
              <a:t>: 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A maior incidência absoluta de atrasos ocorre em </a:t>
            </a:r>
            <a:r>
              <a:rPr lang="pt-BR" b="1" dirty="0"/>
              <a:t>distâncias curtas (até 2.000 km)</a:t>
            </a:r>
            <a:r>
              <a:rPr lang="pt-BR" dirty="0"/>
              <a:t>. </a:t>
            </a:r>
          </a:p>
          <a:p>
            <a:pPr algn="just"/>
            <a:r>
              <a:rPr lang="pt-BR" dirty="0"/>
              <a:t>Isso é um reflexo direto da grande concentração do volume de pedidos (demanda) nessa faixa.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3DDA2F2-CF92-A98A-0006-3B7051A320EA}"/>
              </a:ext>
            </a:extLst>
          </p:cNvPr>
          <p:cNvSpPr txBox="1"/>
          <p:nvPr/>
        </p:nvSpPr>
        <p:spPr>
          <a:xfrm>
            <a:off x="5029200" y="4101735"/>
            <a:ext cx="57594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>
                <a:solidFill>
                  <a:srgbClr val="1A587E"/>
                </a:solidFill>
              </a:rPr>
              <a:t>Volume vs. Gestão do Vendedor</a:t>
            </a:r>
            <a:r>
              <a:rPr lang="pt-BR" dirty="0">
                <a:solidFill>
                  <a:srgbClr val="1A587E"/>
                </a:solidFill>
              </a:rPr>
              <a:t>: 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Embora exista uma tendência positiva (maior volume = mais atrasos), a </a:t>
            </a:r>
            <a:r>
              <a:rPr lang="pt-BR" b="1" dirty="0"/>
              <a:t>elevada dispersão</a:t>
            </a:r>
            <a:r>
              <a:rPr lang="pt-BR" dirty="0"/>
              <a:t> indica que vendedores com volumes idênticos têm taxas de atraso muito diferentes. </a:t>
            </a:r>
          </a:p>
          <a:p>
            <a:pPr algn="just"/>
            <a:r>
              <a:rPr lang="pt-BR" dirty="0"/>
              <a:t>A eficiência logística de cada vendedor (</a:t>
            </a:r>
            <a:r>
              <a:rPr lang="pt-BR" dirty="0" err="1"/>
              <a:t>seller</a:t>
            </a:r>
            <a:r>
              <a:rPr lang="pt-BR" dirty="0"/>
              <a:t>) é um fator isolado decisivo. </a:t>
            </a:r>
          </a:p>
        </p:txBody>
      </p:sp>
    </p:spTree>
    <p:extLst>
      <p:ext uri="{BB962C8B-B14F-4D97-AF65-F5344CB8AC3E}">
        <p14:creationId xmlns:p14="http://schemas.microsoft.com/office/powerpoint/2010/main" val="3765040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CEFCE-28D6-5D11-FFA6-80EE5A234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86F064F-4464-9F04-FCDC-A042C01701FF}"/>
              </a:ext>
            </a:extLst>
          </p:cNvPr>
          <p:cNvSpPr txBox="1"/>
          <p:nvPr/>
        </p:nvSpPr>
        <p:spPr>
          <a:xfrm>
            <a:off x="437321" y="596348"/>
            <a:ext cx="90241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1F4E79"/>
                </a:solidFill>
              </a:rPr>
              <a:t>Importância das Variáveis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689DD24-CCB6-83EB-BBDB-6FB402F8985B}"/>
              </a:ext>
            </a:extLst>
          </p:cNvPr>
          <p:cNvSpPr txBox="1"/>
          <p:nvPr/>
        </p:nvSpPr>
        <p:spPr>
          <a:xfrm>
            <a:off x="437320" y="1424145"/>
            <a:ext cx="10879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Variáveis </a:t>
            </a:r>
            <a:r>
              <a:rPr lang="pt-BR" b="1" dirty="0"/>
              <a:t>operacionais e logísticas</a:t>
            </a:r>
            <a:r>
              <a:rPr lang="pt-BR" dirty="0"/>
              <a:t> mostraram peso superior na predição em relação às geográficas agregadas. A análise baseou-se no Ganho de Informação. 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C60D51B3-CA81-6648-86C8-3072F7429EB7}"/>
              </a:ext>
            </a:extLst>
          </p:cNvPr>
          <p:cNvSpPr/>
          <p:nvPr/>
        </p:nvSpPr>
        <p:spPr>
          <a:xfrm>
            <a:off x="437320" y="2251943"/>
            <a:ext cx="10756348" cy="646332"/>
          </a:xfrm>
          <a:prstGeom prst="roundRect">
            <a:avLst/>
          </a:prstGeom>
          <a:solidFill>
            <a:srgbClr val="0046B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000" b="1" dirty="0">
                <a:solidFill>
                  <a:schemeClr val="bg1"/>
                </a:solidFill>
              </a:rPr>
              <a:t>1. </a:t>
            </a:r>
            <a:r>
              <a:rPr lang="pt-BR" sz="2000" b="1" dirty="0" err="1">
                <a:solidFill>
                  <a:schemeClr val="bg1"/>
                </a:solidFill>
              </a:rPr>
              <a:t>lead_time</a:t>
            </a:r>
            <a:r>
              <a:rPr lang="pt-BR" sz="2000" b="1" dirty="0">
                <a:solidFill>
                  <a:schemeClr val="bg1"/>
                </a:solidFill>
              </a:rPr>
              <a:t> (0,098)</a:t>
            </a:r>
            <a:r>
              <a:rPr lang="pt-BR" sz="2000" dirty="0">
                <a:solidFill>
                  <a:schemeClr val="bg1"/>
                </a:solidFill>
              </a:rPr>
              <a:t> — Prazo total estimado informado ao cliente 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C0D81BCA-7660-35EF-3272-7CB0EE26CB8E}"/>
              </a:ext>
            </a:extLst>
          </p:cNvPr>
          <p:cNvSpPr/>
          <p:nvPr/>
        </p:nvSpPr>
        <p:spPr>
          <a:xfrm>
            <a:off x="437320" y="3105834"/>
            <a:ext cx="10756348" cy="646332"/>
          </a:xfrm>
          <a:prstGeom prst="roundRect">
            <a:avLst/>
          </a:prstGeom>
          <a:solidFill>
            <a:srgbClr val="0046B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900" b="1" dirty="0">
                <a:solidFill>
                  <a:schemeClr val="bg1"/>
                </a:solidFill>
              </a:rPr>
              <a:t>2. </a:t>
            </a:r>
            <a:r>
              <a:rPr lang="pt-BR" sz="1900" b="1" dirty="0" err="1">
                <a:solidFill>
                  <a:schemeClr val="bg1"/>
                </a:solidFill>
              </a:rPr>
              <a:t>order_approved_to_delivered_to_carrier</a:t>
            </a:r>
            <a:r>
              <a:rPr lang="pt-BR" sz="1900" b="1" dirty="0">
                <a:solidFill>
                  <a:schemeClr val="bg1"/>
                </a:solidFill>
              </a:rPr>
              <a:t> (0,095)</a:t>
            </a:r>
            <a:r>
              <a:rPr lang="pt-BR" sz="1900" dirty="0">
                <a:solidFill>
                  <a:schemeClr val="bg1"/>
                </a:solidFill>
              </a:rPr>
              <a:t> — Agilidade do vendedor em despachar o pedido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C0567D85-D3A4-2D2A-B805-2F805B4F231C}"/>
              </a:ext>
            </a:extLst>
          </p:cNvPr>
          <p:cNvSpPr/>
          <p:nvPr/>
        </p:nvSpPr>
        <p:spPr>
          <a:xfrm>
            <a:off x="437320" y="4025900"/>
            <a:ext cx="10756348" cy="646332"/>
          </a:xfrm>
          <a:prstGeom prst="roundRect">
            <a:avLst/>
          </a:prstGeom>
          <a:solidFill>
            <a:srgbClr val="0046B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000" b="1" dirty="0">
                <a:solidFill>
                  <a:schemeClr val="bg1"/>
                </a:solidFill>
              </a:rPr>
              <a:t>3. </a:t>
            </a:r>
            <a:r>
              <a:rPr lang="pt-BR" sz="2000" b="1" dirty="0" err="1">
                <a:solidFill>
                  <a:schemeClr val="bg1"/>
                </a:solidFill>
              </a:rPr>
              <a:t>purchase_month</a:t>
            </a:r>
            <a:r>
              <a:rPr lang="pt-BR" sz="2000" b="1" dirty="0">
                <a:solidFill>
                  <a:schemeClr val="bg1"/>
                </a:solidFill>
              </a:rPr>
              <a:t> (0,081)</a:t>
            </a:r>
            <a:r>
              <a:rPr lang="pt-BR" sz="2000" dirty="0">
                <a:solidFill>
                  <a:schemeClr val="bg1"/>
                </a:solidFill>
              </a:rPr>
              <a:t> — Impacto da sazonalidade (</a:t>
            </a:r>
            <a:r>
              <a:rPr lang="pt-BR" sz="2000" dirty="0" err="1">
                <a:solidFill>
                  <a:schemeClr val="bg1"/>
                </a:solidFill>
              </a:rPr>
              <a:t>ex</a:t>
            </a:r>
            <a:r>
              <a:rPr lang="pt-BR" sz="2000" dirty="0">
                <a:solidFill>
                  <a:schemeClr val="bg1"/>
                </a:solidFill>
              </a:rPr>
              <a:t>: Black Friday, festividades) 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29238497-8A5B-9208-5D7F-BE11B663FB58}"/>
              </a:ext>
            </a:extLst>
          </p:cNvPr>
          <p:cNvSpPr/>
          <p:nvPr/>
        </p:nvSpPr>
        <p:spPr>
          <a:xfrm>
            <a:off x="437320" y="4945966"/>
            <a:ext cx="10756348" cy="646332"/>
          </a:xfrm>
          <a:prstGeom prst="roundRect">
            <a:avLst/>
          </a:prstGeom>
          <a:solidFill>
            <a:srgbClr val="0046B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000" dirty="0">
                <a:solidFill>
                  <a:schemeClr val="bg1"/>
                </a:solidFill>
              </a:rPr>
              <a:t>4.</a:t>
            </a:r>
            <a:r>
              <a:rPr lang="pt-BR" sz="2000" b="1" dirty="0">
                <a:solidFill>
                  <a:schemeClr val="bg1"/>
                </a:solidFill>
              </a:rPr>
              <a:t> </a:t>
            </a:r>
            <a:r>
              <a:rPr lang="pt-BR" sz="2000" b="1" dirty="0" err="1">
                <a:solidFill>
                  <a:schemeClr val="bg1"/>
                </a:solidFill>
              </a:rPr>
              <a:t>distance_km</a:t>
            </a:r>
            <a:r>
              <a:rPr lang="pt-BR" sz="2000" b="1" dirty="0">
                <a:solidFill>
                  <a:schemeClr val="bg1"/>
                </a:solidFill>
              </a:rPr>
              <a:t> (0,079)</a:t>
            </a:r>
            <a:r>
              <a:rPr lang="pt-BR" sz="2000" dirty="0">
                <a:solidFill>
                  <a:schemeClr val="bg1"/>
                </a:solidFill>
              </a:rPr>
              <a:t> — Distância logística real entre cliente e vendedor </a:t>
            </a:r>
          </a:p>
        </p:txBody>
      </p:sp>
    </p:spTree>
    <p:extLst>
      <p:ext uri="{BB962C8B-B14F-4D97-AF65-F5344CB8AC3E}">
        <p14:creationId xmlns:p14="http://schemas.microsoft.com/office/powerpoint/2010/main" val="35061947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E66E0-AB62-AAB6-F06C-E522A490E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0836C1C-6851-DBDF-BEC2-8C29C48C3D85}"/>
              </a:ext>
            </a:extLst>
          </p:cNvPr>
          <p:cNvSpPr txBox="1"/>
          <p:nvPr/>
        </p:nvSpPr>
        <p:spPr>
          <a:xfrm>
            <a:off x="437321" y="596348"/>
            <a:ext cx="90241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1F4E79"/>
                </a:solidFill>
              </a:rPr>
              <a:t>Importância das Variáveis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A28C812-9341-348D-F3AC-52CE28B5F590}"/>
              </a:ext>
            </a:extLst>
          </p:cNvPr>
          <p:cNvSpPr txBox="1"/>
          <p:nvPr/>
        </p:nvSpPr>
        <p:spPr>
          <a:xfrm>
            <a:off x="437320" y="1242679"/>
            <a:ext cx="108794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Variáveis operacionais e logísticas mostraram peso superior na predição em relação às geográficas agregadas. A análise baseou-se no Ganho de Informação. 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3B4D1B7-78C7-19F4-D00F-9F2FDF507F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4" y="2000250"/>
            <a:ext cx="8937625" cy="4629150"/>
          </a:xfrm>
          <a:prstGeom prst="rect">
            <a:avLst/>
          </a:prstGeom>
          <a:noFill/>
          <a:ln cap="rnd">
            <a:solidFill>
              <a:srgbClr val="F1F4F9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3283399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D14C0-F0B9-C5AF-5B68-71185EC64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3780352-DF18-D6C1-47F0-513B172FA61D}"/>
              </a:ext>
            </a:extLst>
          </p:cNvPr>
          <p:cNvSpPr txBox="1"/>
          <p:nvPr/>
        </p:nvSpPr>
        <p:spPr>
          <a:xfrm>
            <a:off x="437321" y="596348"/>
            <a:ext cx="99893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1F4E79"/>
                </a:solidFill>
              </a:rPr>
              <a:t>Avaliação dos Algoritmos</a:t>
            </a:r>
            <a:endParaRPr lang="pt-BR" sz="3600" dirty="0">
              <a:solidFill>
                <a:srgbClr val="1F4E79"/>
              </a:solidFill>
              <a:effectLst/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214CD8C7-431C-4341-958F-BA8D9B1E7FEA}"/>
              </a:ext>
            </a:extLst>
          </p:cNvPr>
          <p:cNvSpPr/>
          <p:nvPr/>
        </p:nvSpPr>
        <p:spPr>
          <a:xfrm>
            <a:off x="400602" y="1397001"/>
            <a:ext cx="5031408" cy="459795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200" b="1" dirty="0">
                <a:solidFill>
                  <a:srgbClr val="1A587E"/>
                </a:solidFill>
              </a:rPr>
              <a:t>Algoritmos Tradicionais</a:t>
            </a:r>
            <a:r>
              <a:rPr lang="pt-BR" sz="2200" dirty="0">
                <a:solidFill>
                  <a:srgbClr val="1A587E"/>
                </a:solidFill>
              </a:rPr>
              <a:t>: </a:t>
            </a:r>
          </a:p>
          <a:p>
            <a:endParaRPr lang="pt-BR" dirty="0"/>
          </a:p>
          <a:p>
            <a:r>
              <a:rPr lang="pt-BR" dirty="0"/>
              <a:t>Demonstraram comportamentos limitados frente ao desbalanceamento de classes: </a:t>
            </a:r>
          </a:p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Random Forest &amp; KNN</a:t>
            </a:r>
            <a:r>
              <a:rPr lang="pt-BR" dirty="0"/>
              <a:t>: Alta precisão, mas baixa revocação (não identificam bem os atrasos).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SVM</a:t>
            </a:r>
            <a:r>
              <a:rPr lang="pt-BR" dirty="0"/>
              <a:t>: Alta sensibilidade, mas com número insatisfatório de falsos positivos (falsos alarmes).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Regressão Logística</a:t>
            </a:r>
            <a:r>
              <a:rPr lang="pt-BR" dirty="0"/>
              <a:t>: F1-score e acurácia reduzidos devido ao grande desequilíbrio na base. </a:t>
            </a:r>
          </a:p>
          <a:p>
            <a:endParaRPr lang="pt-BR" dirty="0">
              <a:solidFill>
                <a:srgbClr val="D9E1F2"/>
              </a:solidFill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C2F6DBA-B8B8-0C5E-DD37-8E7CF78DED85}"/>
              </a:ext>
            </a:extLst>
          </p:cNvPr>
          <p:cNvSpPr/>
          <p:nvPr/>
        </p:nvSpPr>
        <p:spPr>
          <a:xfrm>
            <a:off x="6096000" y="1397001"/>
            <a:ext cx="5031408" cy="459795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200" b="1" dirty="0">
                <a:solidFill>
                  <a:srgbClr val="1A587E"/>
                </a:solidFill>
              </a:rPr>
              <a:t>Algoritmos de Boosting</a:t>
            </a:r>
            <a:r>
              <a:rPr lang="pt-BR" sz="2200" dirty="0">
                <a:solidFill>
                  <a:srgbClr val="1A587E"/>
                </a:solidFill>
              </a:rPr>
              <a:t>: </a:t>
            </a:r>
          </a:p>
          <a:p>
            <a:endParaRPr lang="pt-BR" dirty="0"/>
          </a:p>
          <a:p>
            <a:r>
              <a:rPr lang="pt-BR" dirty="0"/>
              <a:t>Demonstraram ser os mais adequados e robustos: </a:t>
            </a:r>
          </a:p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LightGBM</a:t>
            </a:r>
            <a:r>
              <a:rPr lang="pt-BR" dirty="0"/>
              <a:t>: Maior revocação da classe de atrasos, porém com leve aumento no volume de falsos positivos.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XGBoost</a:t>
            </a:r>
            <a:r>
              <a:rPr lang="pt-BR" dirty="0"/>
              <a:t>: Entregou o melhor equilíbrio entre detecção de atrasos (revocação) e precisão, alcançando o maior F1-score inicial. </a:t>
            </a:r>
          </a:p>
          <a:p>
            <a:endParaRPr lang="pt-BR" dirty="0">
              <a:solidFill>
                <a:srgbClr val="D9E1F2"/>
              </a:solidFill>
            </a:endParaRPr>
          </a:p>
          <a:p>
            <a:endParaRPr lang="pt-BR" dirty="0">
              <a:solidFill>
                <a:srgbClr val="D9E1F2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EB2FD7A-FC7E-28C3-A2FC-18345A997DB3}"/>
              </a:ext>
            </a:extLst>
          </p:cNvPr>
          <p:cNvSpPr txBox="1"/>
          <p:nvPr/>
        </p:nvSpPr>
        <p:spPr>
          <a:xfrm>
            <a:off x="3048778" y="2136339"/>
            <a:ext cx="609755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Antes de analisarmos os resultados, é fundamental explicar como chegamos neles. Não buscamos o modelo mais complexo, buscamos o que melhor resolvia nosso problema de desbalanceamento. Por isso, dividimos nossos testes em duas frentes: uma baseline com modelos tradicionais e uma bateria de testes com modelos de Boosting. O fiel da balança para nossa decisão foi o F1-Score, que nos garantiu o melhor equilíbrio entre identificar os atrasos sem disparar alarmes falsos.</a:t>
            </a:r>
          </a:p>
        </p:txBody>
      </p:sp>
    </p:spTree>
    <p:extLst>
      <p:ext uri="{BB962C8B-B14F-4D97-AF65-F5344CB8AC3E}">
        <p14:creationId xmlns:p14="http://schemas.microsoft.com/office/powerpoint/2010/main" val="8574698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D121E-ADC1-003E-029E-2BC9A03CB2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7B6487F-EE2C-DBD4-620D-C9E996B5D6B6}"/>
              </a:ext>
            </a:extLst>
          </p:cNvPr>
          <p:cNvSpPr txBox="1"/>
          <p:nvPr/>
        </p:nvSpPr>
        <p:spPr>
          <a:xfrm>
            <a:off x="437321" y="596348"/>
            <a:ext cx="99893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1F4E79"/>
                </a:solidFill>
              </a:rPr>
              <a:t>Avaliação dos Algoritmos</a:t>
            </a:r>
            <a:endParaRPr lang="pt-BR" sz="3600" dirty="0">
              <a:solidFill>
                <a:srgbClr val="1F4E79"/>
              </a:solidFill>
              <a:effectLst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41C362C-45F2-D5B2-FCF7-A2D2199B5B95}"/>
              </a:ext>
            </a:extLst>
          </p:cNvPr>
          <p:cNvSpPr txBox="1"/>
          <p:nvPr/>
        </p:nvSpPr>
        <p:spPr>
          <a:xfrm>
            <a:off x="5894614" y="260886"/>
            <a:ext cx="609755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Antes de analisarmos os resultados, é fundamental explicar como chegamos neles. Não buscamos o modelo mais complexo, buscamos o que melhor resolvia nosso problema de desbalanceamento. Por isso, dividimos nossos testes em duas frentes: uma baseline com modelos tradicionais e uma bateria de testes com modelos de Boosting. O fiel da balança para nossa decisão foi o F1-Score, que nos garantiu o melhor equilíbrio entre identificar os atrasos sem disparar alarmes falsos.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631EF815-5CA2-FD3D-CC67-146FE937B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9804937"/>
              </p:ext>
            </p:extLst>
          </p:nvPr>
        </p:nvGraphicFramePr>
        <p:xfrm>
          <a:off x="838200" y="2956500"/>
          <a:ext cx="10515600" cy="26517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74388330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9899669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77909325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pt-BR" b="1" dirty="0">
                          <a:effectLst/>
                          <a:latin typeface="Google Sans Text"/>
                        </a:rPr>
                        <a:t>Algoritmo</a:t>
                      </a:r>
                      <a:endParaRPr lang="pt-BR" dirty="0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pt-BR" b="1">
                          <a:effectLst/>
                          <a:latin typeface="Google Sans Text"/>
                        </a:rPr>
                        <a:t>Desempenho (Recall/Precisão)</a:t>
                      </a:r>
                      <a:endParaRPr lang="pt-BR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pt-BR" b="1">
                          <a:effectLst/>
                          <a:latin typeface="Google Sans Text"/>
                        </a:rPr>
                        <a:t>Veredito</a:t>
                      </a:r>
                      <a:endParaRPr lang="pt-BR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2782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pt-BR" b="1">
                          <a:effectLst/>
                          <a:latin typeface="Google Sans Text"/>
                        </a:rPr>
                        <a:t>Random Forest / KNN</a:t>
                      </a:r>
                      <a:endParaRPr lang="pt-BR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pt-BR">
                          <a:effectLst/>
                          <a:latin typeface="Google Sans Text"/>
                        </a:rPr>
                        <a:t>Alta Precisão / </a:t>
                      </a:r>
                      <a:r>
                        <a:rPr lang="pt-BR" b="1">
                          <a:effectLst/>
                          <a:latin typeface="Google Sans Text"/>
                        </a:rPr>
                        <a:t>Baixa Revocação</a:t>
                      </a:r>
                      <a:endParaRPr lang="pt-BR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pt-BR">
                          <a:effectLst/>
                          <a:latin typeface="Google Sans Text"/>
                        </a:rPr>
                        <a:t>Descartado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5563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pt-BR" b="1">
                          <a:effectLst/>
                          <a:latin typeface="Google Sans Text"/>
                        </a:rPr>
                        <a:t>SVM</a:t>
                      </a:r>
                      <a:endParaRPr lang="pt-BR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pt-BR">
                          <a:effectLst/>
                          <a:latin typeface="Google Sans Text"/>
                        </a:rPr>
                        <a:t>Alta Sensibilidade / </a:t>
                      </a:r>
                      <a:r>
                        <a:rPr lang="pt-BR" b="1">
                          <a:effectLst/>
                          <a:latin typeface="Google Sans Text"/>
                        </a:rPr>
                        <a:t>Muitos Falsos Positivos</a:t>
                      </a:r>
                      <a:endParaRPr lang="pt-BR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pt-BR">
                          <a:effectLst/>
                          <a:latin typeface="Google Sans Text"/>
                        </a:rPr>
                        <a:t>Descartado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8504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pt-BR" b="1">
                          <a:effectLst/>
                          <a:latin typeface="Google Sans Text"/>
                        </a:rPr>
                        <a:t>Regressão Logística</a:t>
                      </a:r>
                      <a:endParaRPr lang="pt-BR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pt-BR">
                          <a:effectLst/>
                          <a:latin typeface="Google Sans Text"/>
                        </a:rPr>
                        <a:t>F1-Score Reduzido (Desequilíbrio)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pt-BR">
                          <a:effectLst/>
                          <a:latin typeface="Google Sans Text"/>
                        </a:rPr>
                        <a:t>Descartado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1947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pt-BR" b="1" dirty="0">
                          <a:effectLst/>
                          <a:latin typeface="Google Sans Text"/>
                        </a:rPr>
                        <a:t>LightGBM</a:t>
                      </a:r>
                      <a:endParaRPr lang="pt-BR" dirty="0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pt-BR">
                          <a:effectLst/>
                          <a:latin typeface="Google Sans Text"/>
                        </a:rPr>
                        <a:t>Boa Revocação / Falsos Positivos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pt-BR">
                          <a:effectLst/>
                          <a:latin typeface="Google Sans Text"/>
                        </a:rPr>
                        <a:t>Alternativa</a:t>
                      </a: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5817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pt-BR" b="1" dirty="0">
                          <a:effectLst/>
                          <a:latin typeface="Google Sans Text"/>
                        </a:rPr>
                        <a:t>XGBoost</a:t>
                      </a:r>
                      <a:endParaRPr lang="pt-BR" dirty="0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pt-BR" b="1">
                          <a:effectLst/>
                          <a:latin typeface="Google Sans Text"/>
                        </a:rPr>
                        <a:t>Equilíbrio Superior (F1-Score)</a:t>
                      </a:r>
                      <a:endParaRPr lang="pt-BR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400"/>
                        </a:spcAft>
                        <a:buNone/>
                      </a:pPr>
                      <a:r>
                        <a:rPr lang="pt-BR" b="1" dirty="0">
                          <a:effectLst/>
                          <a:latin typeface="Google Sans Text"/>
                        </a:rPr>
                        <a:t>Escolhido</a:t>
                      </a:r>
                      <a:endParaRPr lang="pt-BR" dirty="0"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4869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4718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4D95F-432C-8ED2-4D89-5D5F5BAF4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7150E6D-C751-28B3-0068-B9C206FA2598}"/>
              </a:ext>
            </a:extLst>
          </p:cNvPr>
          <p:cNvSpPr txBox="1"/>
          <p:nvPr/>
        </p:nvSpPr>
        <p:spPr>
          <a:xfrm>
            <a:off x="437321" y="596348"/>
            <a:ext cx="99893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1F4E79"/>
                </a:solidFill>
              </a:rPr>
              <a:t>Comparação de Desempenho dos Algoritmos</a:t>
            </a:r>
            <a:endParaRPr lang="pt-BR" sz="3600" dirty="0">
              <a:solidFill>
                <a:srgbClr val="1F4E79"/>
              </a:solidFill>
              <a:effectLst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E83F308-678D-7C20-C02F-03AA2C0A218F}"/>
              </a:ext>
            </a:extLst>
          </p:cNvPr>
          <p:cNvSpPr txBox="1"/>
          <p:nvPr/>
        </p:nvSpPr>
        <p:spPr>
          <a:xfrm>
            <a:off x="437321" y="1347641"/>
            <a:ext cx="102080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Resultados após normalização e ajuste de </a:t>
            </a:r>
            <a:r>
              <a:rPr lang="pt-BR" dirty="0" err="1"/>
              <a:t>hiperparâmetros</a:t>
            </a:r>
            <a:r>
              <a:rPr lang="pt-BR" dirty="0"/>
              <a:t> (onde aplicável). O XGBoost ofereceu o melhor equilíbrio para a operação logística.</a:t>
            </a:r>
          </a:p>
          <a:p>
            <a:pPr algn="ctr"/>
            <a:endParaRPr lang="pt-BR" dirty="0">
              <a:solidFill>
                <a:schemeClr val="bg1"/>
              </a:solidFill>
            </a:endParaRP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35978DE4-F53E-5C2F-B1ED-52E118D179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7265219"/>
              </p:ext>
            </p:extLst>
          </p:nvPr>
        </p:nvGraphicFramePr>
        <p:xfrm>
          <a:off x="437320" y="2133600"/>
          <a:ext cx="9989381" cy="38354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76317">
                  <a:extLst>
                    <a:ext uri="{9D8B030D-6E8A-4147-A177-3AD203B41FA5}">
                      <a16:colId xmlns:a16="http://schemas.microsoft.com/office/drawing/2014/main" val="3903241662"/>
                    </a:ext>
                  </a:extLst>
                </a:gridCol>
                <a:gridCol w="2374543">
                  <a:extLst>
                    <a:ext uri="{9D8B030D-6E8A-4147-A177-3AD203B41FA5}">
                      <a16:colId xmlns:a16="http://schemas.microsoft.com/office/drawing/2014/main" val="1971400655"/>
                    </a:ext>
                  </a:extLst>
                </a:gridCol>
                <a:gridCol w="1383314">
                  <a:extLst>
                    <a:ext uri="{9D8B030D-6E8A-4147-A177-3AD203B41FA5}">
                      <a16:colId xmlns:a16="http://schemas.microsoft.com/office/drawing/2014/main" val="2484484018"/>
                    </a:ext>
                  </a:extLst>
                </a:gridCol>
                <a:gridCol w="1372301">
                  <a:extLst>
                    <a:ext uri="{9D8B030D-6E8A-4147-A177-3AD203B41FA5}">
                      <a16:colId xmlns:a16="http://schemas.microsoft.com/office/drawing/2014/main" val="4223245709"/>
                    </a:ext>
                  </a:extLst>
                </a:gridCol>
                <a:gridCol w="1209299">
                  <a:extLst>
                    <a:ext uri="{9D8B030D-6E8A-4147-A177-3AD203B41FA5}">
                      <a16:colId xmlns:a16="http://schemas.microsoft.com/office/drawing/2014/main" val="2799110901"/>
                    </a:ext>
                  </a:extLst>
                </a:gridCol>
                <a:gridCol w="973607">
                  <a:extLst>
                    <a:ext uri="{9D8B030D-6E8A-4147-A177-3AD203B41FA5}">
                      <a16:colId xmlns:a16="http://schemas.microsoft.com/office/drawing/2014/main" val="3428857452"/>
                    </a:ext>
                  </a:extLst>
                </a:gridCol>
              </a:tblGrid>
              <a:tr h="547915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pt-BR" sz="1800" dirty="0">
                          <a:effectLst/>
                        </a:rPr>
                        <a:t>Modelo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44450" marR="44450" marT="0" marB="0" anchor="b">
                    <a:solidFill>
                      <a:srgbClr val="0046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pt-BR" sz="1800" dirty="0">
                          <a:effectLst/>
                        </a:rPr>
                        <a:t>Acurácia Balanceada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44450" marR="44450" marT="0" marB="0" anchor="b">
                    <a:solidFill>
                      <a:srgbClr val="0046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pt-BR" sz="1800" dirty="0">
                          <a:effectLst/>
                        </a:rPr>
                        <a:t>Precisão 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rgbClr val="0046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pt-BR" sz="1800" dirty="0">
                          <a:effectLst/>
                        </a:rPr>
                        <a:t>Revocação 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44450" marR="44450" marT="0" marB="0" anchor="ctr">
                    <a:solidFill>
                      <a:srgbClr val="0046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pt-BR" sz="1800" dirty="0">
                          <a:effectLst/>
                        </a:rPr>
                        <a:t>F1‑score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44450" marR="44450" marT="0" marB="0" anchor="b">
                    <a:solidFill>
                      <a:srgbClr val="0046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pt-BR" sz="1800" dirty="0">
                          <a:effectLst/>
                        </a:rPr>
                        <a:t>Kappa</a:t>
                      </a:r>
                      <a:endParaRPr lang="pt-BR" sz="1800" dirty="0"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44450" marR="44450" marT="0" marB="0" anchor="b">
                    <a:solidFill>
                      <a:srgbClr val="0046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456517"/>
                  </a:ext>
                </a:extLst>
              </a:tr>
              <a:tr h="54791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pt-BR" sz="1800" b="1" dirty="0">
                          <a:solidFill>
                            <a:srgbClr val="1A587E"/>
                          </a:solidFill>
                          <a:effectLst/>
                        </a:rPr>
                        <a:t>XGBoost (após </a:t>
                      </a:r>
                      <a:r>
                        <a:rPr lang="pt-BR" sz="1800" b="1" dirty="0" err="1">
                          <a:solidFill>
                            <a:srgbClr val="1A587E"/>
                          </a:solidFill>
                          <a:effectLst/>
                        </a:rPr>
                        <a:t>GridSearch</a:t>
                      </a:r>
                      <a:r>
                        <a:rPr lang="pt-BR" sz="1800" b="1" dirty="0">
                          <a:solidFill>
                            <a:srgbClr val="1A587E"/>
                          </a:solidFill>
                          <a:effectLst/>
                        </a:rPr>
                        <a:t>)</a:t>
                      </a:r>
                      <a:endParaRPr lang="pt-BR" sz="1800" b="1" dirty="0">
                        <a:solidFill>
                          <a:srgbClr val="1A587E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44450" marR="44450" marT="0" marB="0"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b="1">
                          <a:solidFill>
                            <a:srgbClr val="1A587E"/>
                          </a:solidFill>
                          <a:effectLst/>
                        </a:rPr>
                        <a:t>0,73</a:t>
                      </a:r>
                      <a:endParaRPr lang="pt-BR" sz="1800" b="1">
                        <a:solidFill>
                          <a:srgbClr val="1A587E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44450" marR="44450" marT="0" marB="0"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b="1" dirty="0">
                          <a:solidFill>
                            <a:srgbClr val="1A587E"/>
                          </a:solidFill>
                          <a:effectLst/>
                        </a:rPr>
                        <a:t>0,32</a:t>
                      </a:r>
                      <a:endParaRPr lang="pt-BR" sz="1800" b="1" dirty="0">
                        <a:solidFill>
                          <a:srgbClr val="1A587E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44450" marR="44450" marT="0" marB="0"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b="1">
                          <a:solidFill>
                            <a:srgbClr val="1A587E"/>
                          </a:solidFill>
                          <a:effectLst/>
                        </a:rPr>
                        <a:t>0,57</a:t>
                      </a:r>
                      <a:endParaRPr lang="pt-BR" sz="1800" b="1">
                        <a:solidFill>
                          <a:srgbClr val="1A587E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44450" marR="44450" marT="0" marB="0"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b="1">
                          <a:solidFill>
                            <a:srgbClr val="1A587E"/>
                          </a:solidFill>
                          <a:effectLst/>
                        </a:rPr>
                        <a:t>0,41</a:t>
                      </a:r>
                      <a:endParaRPr lang="pt-BR" sz="1800" b="1">
                        <a:solidFill>
                          <a:srgbClr val="1A587E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44450" marR="44450" marT="0" marB="0"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b="1" dirty="0">
                          <a:solidFill>
                            <a:srgbClr val="1A587E"/>
                          </a:solidFill>
                          <a:effectLst/>
                        </a:rPr>
                        <a:t>0,34</a:t>
                      </a:r>
                      <a:endParaRPr lang="pt-BR" sz="1800" b="1" dirty="0">
                        <a:solidFill>
                          <a:srgbClr val="1A587E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44450" marR="44450" marT="0" marB="0">
                    <a:solidFill>
                      <a:srgbClr val="E9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9735865"/>
                  </a:ext>
                </a:extLst>
              </a:tr>
              <a:tr h="54791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pt-BR" sz="1800" b="0" dirty="0">
                          <a:solidFill>
                            <a:schemeClr val="tx1"/>
                          </a:solidFill>
                          <a:effectLst/>
                        </a:rPr>
                        <a:t>K </a:t>
                      </a:r>
                      <a:r>
                        <a:rPr lang="pt-BR" sz="1800" b="0" dirty="0" err="1">
                          <a:solidFill>
                            <a:schemeClr val="tx1"/>
                          </a:solidFill>
                          <a:effectLst/>
                        </a:rPr>
                        <a:t>Nearest</a:t>
                      </a:r>
                      <a:r>
                        <a:rPr lang="pt-BR" sz="1800" b="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pt-BR" sz="1800" b="0" dirty="0" err="1">
                          <a:solidFill>
                            <a:schemeClr val="tx1"/>
                          </a:solidFill>
                          <a:effectLst/>
                        </a:rPr>
                        <a:t>Neighbors</a:t>
                      </a:r>
                      <a:endParaRPr lang="pt-BR" sz="1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44450" marR="4445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b="0" dirty="0">
                          <a:solidFill>
                            <a:schemeClr val="tx1"/>
                          </a:solidFill>
                          <a:effectLst/>
                        </a:rPr>
                        <a:t>0,62</a:t>
                      </a:r>
                      <a:endParaRPr lang="pt-BR" sz="1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44450" marR="4445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b="0" dirty="0">
                          <a:solidFill>
                            <a:schemeClr val="tx1"/>
                          </a:solidFill>
                          <a:effectLst/>
                        </a:rPr>
                        <a:t>0,62</a:t>
                      </a:r>
                      <a:endParaRPr lang="pt-BR" sz="1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44450" marR="4445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b="0">
                          <a:solidFill>
                            <a:schemeClr val="tx1"/>
                          </a:solidFill>
                          <a:effectLst/>
                        </a:rPr>
                        <a:t>0,25</a:t>
                      </a:r>
                      <a:endParaRPr lang="pt-BR" sz="1800" b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44450" marR="4445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b="0">
                          <a:solidFill>
                            <a:schemeClr val="tx1"/>
                          </a:solidFill>
                          <a:effectLst/>
                        </a:rPr>
                        <a:t>0,36</a:t>
                      </a:r>
                      <a:endParaRPr lang="pt-BR" sz="1800" b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44450" marR="4445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b="0" dirty="0">
                          <a:solidFill>
                            <a:schemeClr val="tx1"/>
                          </a:solidFill>
                          <a:effectLst/>
                        </a:rPr>
                        <a:t>0,33</a:t>
                      </a:r>
                      <a:endParaRPr lang="pt-BR" sz="1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44450" marR="4445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9760467"/>
                  </a:ext>
                </a:extLst>
              </a:tr>
              <a:tr h="54791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pt-BR" sz="1800" b="0" dirty="0">
                          <a:solidFill>
                            <a:schemeClr val="tx1"/>
                          </a:solidFill>
                          <a:effectLst/>
                        </a:rPr>
                        <a:t>Random Forest</a:t>
                      </a:r>
                      <a:endParaRPr lang="pt-BR" sz="1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44450" marR="44450" marT="0" marB="0"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b="0" dirty="0">
                          <a:solidFill>
                            <a:schemeClr val="tx1"/>
                          </a:solidFill>
                          <a:effectLst/>
                        </a:rPr>
                        <a:t>0,61</a:t>
                      </a:r>
                      <a:endParaRPr lang="pt-BR" sz="1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44450" marR="44450" marT="0" marB="0"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b="0" dirty="0">
                          <a:solidFill>
                            <a:schemeClr val="tx1"/>
                          </a:solidFill>
                          <a:effectLst/>
                        </a:rPr>
                        <a:t>0,85</a:t>
                      </a:r>
                      <a:endParaRPr lang="pt-BR" sz="1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44450" marR="44450" marT="0" marB="0"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b="0" dirty="0">
                          <a:solidFill>
                            <a:schemeClr val="tx1"/>
                          </a:solidFill>
                          <a:effectLst/>
                        </a:rPr>
                        <a:t>0,23</a:t>
                      </a:r>
                      <a:endParaRPr lang="pt-BR" sz="1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44450" marR="44450" marT="0" marB="0"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b="0" dirty="0">
                          <a:solidFill>
                            <a:schemeClr val="tx1"/>
                          </a:solidFill>
                          <a:effectLst/>
                        </a:rPr>
                        <a:t>0,35</a:t>
                      </a:r>
                      <a:endParaRPr lang="pt-BR" sz="1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44450" marR="44450" marT="0" marB="0"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b="0" dirty="0">
                          <a:solidFill>
                            <a:schemeClr val="tx1"/>
                          </a:solidFill>
                          <a:effectLst/>
                        </a:rPr>
                        <a:t>0,34</a:t>
                      </a:r>
                      <a:endParaRPr lang="pt-BR" sz="1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44450" marR="44450" marT="0" marB="0">
                    <a:solidFill>
                      <a:srgbClr val="E9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259674"/>
                  </a:ext>
                </a:extLst>
              </a:tr>
              <a:tr h="54791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pt-BR" sz="1800" b="0" dirty="0">
                          <a:solidFill>
                            <a:schemeClr val="tx1"/>
                          </a:solidFill>
                          <a:effectLst/>
                        </a:rPr>
                        <a:t>LightGBM</a:t>
                      </a:r>
                      <a:endParaRPr lang="pt-BR" sz="1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44450" marR="4445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b="0">
                          <a:solidFill>
                            <a:schemeClr val="tx1"/>
                          </a:solidFill>
                          <a:effectLst/>
                        </a:rPr>
                        <a:t>0,75</a:t>
                      </a:r>
                      <a:endParaRPr lang="pt-BR" sz="1800" b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44450" marR="4445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b="0" dirty="0">
                          <a:solidFill>
                            <a:schemeClr val="tx1"/>
                          </a:solidFill>
                          <a:effectLst/>
                        </a:rPr>
                        <a:t>0,21</a:t>
                      </a:r>
                      <a:endParaRPr lang="pt-BR" sz="1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44450" marR="4445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b="0" dirty="0">
                          <a:solidFill>
                            <a:schemeClr val="tx1"/>
                          </a:solidFill>
                          <a:effectLst/>
                        </a:rPr>
                        <a:t>0,74</a:t>
                      </a:r>
                      <a:endParaRPr lang="pt-BR" sz="1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44450" marR="4445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b="0">
                          <a:solidFill>
                            <a:schemeClr val="tx1"/>
                          </a:solidFill>
                          <a:effectLst/>
                        </a:rPr>
                        <a:t>0,33</a:t>
                      </a:r>
                      <a:endParaRPr lang="pt-BR" sz="1800" b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44450" marR="4445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b="0" dirty="0">
                          <a:solidFill>
                            <a:schemeClr val="tx1"/>
                          </a:solidFill>
                          <a:effectLst/>
                        </a:rPr>
                        <a:t>0,24</a:t>
                      </a:r>
                      <a:endParaRPr lang="pt-BR" sz="1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44450" marR="4445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1985887"/>
                  </a:ext>
                </a:extLst>
              </a:tr>
              <a:tr h="54791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pt-BR" sz="1800" b="0">
                          <a:solidFill>
                            <a:schemeClr val="tx1"/>
                          </a:solidFill>
                          <a:effectLst/>
                        </a:rPr>
                        <a:t>Regressão Logistica</a:t>
                      </a:r>
                      <a:endParaRPr lang="pt-BR" sz="1800" b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44450" marR="44450" marT="0" marB="0"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b="0" dirty="0">
                          <a:solidFill>
                            <a:schemeClr val="tx1"/>
                          </a:solidFill>
                          <a:effectLst/>
                        </a:rPr>
                        <a:t>0,66</a:t>
                      </a:r>
                      <a:endParaRPr lang="pt-BR" sz="1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44450" marR="44450" marT="0" marB="0"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b="0">
                          <a:solidFill>
                            <a:schemeClr val="tx1"/>
                          </a:solidFill>
                          <a:effectLst/>
                        </a:rPr>
                        <a:t>0,16</a:t>
                      </a:r>
                      <a:endParaRPr lang="pt-BR" sz="1800" b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44450" marR="44450" marT="0" marB="0"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b="0" dirty="0">
                          <a:solidFill>
                            <a:schemeClr val="tx1"/>
                          </a:solidFill>
                          <a:effectLst/>
                        </a:rPr>
                        <a:t>0,62</a:t>
                      </a:r>
                      <a:endParaRPr lang="pt-BR" sz="1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44450" marR="44450" marT="0" marB="0"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b="0" dirty="0">
                          <a:solidFill>
                            <a:schemeClr val="tx1"/>
                          </a:solidFill>
                          <a:effectLst/>
                        </a:rPr>
                        <a:t>0,24</a:t>
                      </a:r>
                      <a:endParaRPr lang="pt-BR" sz="1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44450" marR="44450" marT="0" marB="0">
                    <a:solidFill>
                      <a:srgbClr val="E9ED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b="0" dirty="0">
                          <a:solidFill>
                            <a:schemeClr val="tx1"/>
                          </a:solidFill>
                          <a:effectLst/>
                        </a:rPr>
                        <a:t>0,14</a:t>
                      </a:r>
                      <a:endParaRPr lang="pt-BR" sz="1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44450" marR="44450" marT="0" marB="0">
                    <a:solidFill>
                      <a:srgbClr val="E9ED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785189"/>
                  </a:ext>
                </a:extLst>
              </a:tr>
              <a:tr h="54791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pt-BR" sz="1800" b="0" dirty="0">
                          <a:solidFill>
                            <a:schemeClr val="tx1"/>
                          </a:solidFill>
                          <a:effectLst/>
                        </a:rPr>
                        <a:t>Support Vector </a:t>
                      </a:r>
                      <a:r>
                        <a:rPr lang="pt-BR" sz="1800" b="0" dirty="0" err="1">
                          <a:solidFill>
                            <a:schemeClr val="tx1"/>
                          </a:solidFill>
                          <a:effectLst/>
                        </a:rPr>
                        <a:t>Machines</a:t>
                      </a:r>
                      <a:endParaRPr lang="pt-BR" sz="1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44450" marR="4445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b="0">
                          <a:solidFill>
                            <a:schemeClr val="tx1"/>
                          </a:solidFill>
                          <a:effectLst/>
                        </a:rPr>
                        <a:t>0,47</a:t>
                      </a:r>
                      <a:endParaRPr lang="pt-BR" sz="1800" b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44450" marR="4445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b="0">
                          <a:solidFill>
                            <a:schemeClr val="tx1"/>
                          </a:solidFill>
                          <a:effectLst/>
                        </a:rPr>
                        <a:t>0,07</a:t>
                      </a:r>
                      <a:endParaRPr lang="pt-BR" sz="1800" b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44450" marR="4445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b="0">
                          <a:solidFill>
                            <a:schemeClr val="tx1"/>
                          </a:solidFill>
                          <a:effectLst/>
                        </a:rPr>
                        <a:t>0,81</a:t>
                      </a:r>
                      <a:endParaRPr lang="pt-BR" sz="1800" b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44450" marR="4445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b="0" dirty="0">
                          <a:solidFill>
                            <a:schemeClr val="tx1"/>
                          </a:solidFill>
                          <a:effectLst/>
                        </a:rPr>
                        <a:t>0,13</a:t>
                      </a:r>
                      <a:endParaRPr lang="pt-BR" sz="1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44450" marR="4445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800" b="0" dirty="0">
                          <a:solidFill>
                            <a:schemeClr val="tx1"/>
                          </a:solidFill>
                          <a:effectLst/>
                        </a:rPr>
                        <a:t>-0,01</a:t>
                      </a:r>
                      <a:endParaRPr lang="pt-BR" sz="18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</a:endParaRPr>
                    </a:p>
                  </a:txBody>
                  <a:tcPr marL="44450" marR="4445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982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4973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494C7-DB90-43B6-6180-232A07352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E2AA9A2-177E-AF51-133E-312245261949}"/>
              </a:ext>
            </a:extLst>
          </p:cNvPr>
          <p:cNvSpPr txBox="1"/>
          <p:nvPr/>
        </p:nvSpPr>
        <p:spPr>
          <a:xfrm>
            <a:off x="437321" y="596348"/>
            <a:ext cx="99893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1F4E79"/>
                </a:solidFill>
              </a:rPr>
              <a:t>O Melhor Modelo: XGBoost Otimizado</a:t>
            </a:r>
            <a:endParaRPr lang="pt-BR" sz="3600" dirty="0">
              <a:solidFill>
                <a:srgbClr val="1F4E79"/>
              </a:solidFill>
              <a:effectLst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DD69092-14C8-AB75-3314-C2195691EF65}"/>
              </a:ext>
            </a:extLst>
          </p:cNvPr>
          <p:cNvSpPr txBox="1"/>
          <p:nvPr/>
        </p:nvSpPr>
        <p:spPr>
          <a:xfrm>
            <a:off x="437321" y="1474641"/>
            <a:ext cx="57856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Ajuste fino de </a:t>
            </a:r>
            <a:r>
              <a:rPr lang="pt-BR" dirty="0" err="1"/>
              <a:t>hiperparâmetros</a:t>
            </a:r>
            <a:r>
              <a:rPr lang="pt-BR" dirty="0"/>
              <a:t> realizado por meio de </a:t>
            </a:r>
            <a:r>
              <a:rPr lang="pt-BR" b="1" dirty="0"/>
              <a:t>Grid Search</a:t>
            </a:r>
            <a:r>
              <a:rPr lang="pt-BR" dirty="0"/>
              <a:t>. O modelo ofereceu o melhor compromisso entre desempenho e viabilidade logística. </a:t>
            </a:r>
          </a:p>
          <a:p>
            <a:endParaRPr lang="pt-BR" dirty="0"/>
          </a:p>
          <a:p>
            <a:r>
              <a:rPr lang="pt-BR" b="1" dirty="0">
                <a:solidFill>
                  <a:srgbClr val="1A587E"/>
                </a:solidFill>
              </a:rPr>
              <a:t>Métricas Finais</a:t>
            </a:r>
            <a:r>
              <a:rPr lang="pt-BR" dirty="0">
                <a:solidFill>
                  <a:srgbClr val="1A587E"/>
                </a:solidFill>
              </a:rPr>
              <a:t>: </a:t>
            </a:r>
          </a:p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AUC-ROC</a:t>
            </a:r>
            <a:r>
              <a:rPr lang="pt-BR" dirty="0"/>
              <a:t>: 0,82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Acurácia Balanceada</a:t>
            </a:r>
            <a:r>
              <a:rPr lang="pt-BR" dirty="0"/>
              <a:t>: 0,73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Revocação (Recall)</a:t>
            </a:r>
            <a:r>
              <a:rPr lang="pt-BR" dirty="0"/>
              <a:t>: 0,57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Precisão</a:t>
            </a:r>
            <a:r>
              <a:rPr lang="pt-BR" dirty="0"/>
              <a:t>: 0,32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F1-score</a:t>
            </a:r>
            <a:r>
              <a:rPr lang="pt-BR" dirty="0"/>
              <a:t>: 0,41 </a:t>
            </a:r>
          </a:p>
          <a:p>
            <a:endParaRPr lang="pt-BR" dirty="0"/>
          </a:p>
          <a:p>
            <a:r>
              <a:rPr lang="pt-BR" dirty="0"/>
              <a:t>O modelo foi capaz de identificar adequadamente os atrasos reais sem gerar custos excessivos de triagem operacional por falsos positivos. </a:t>
            </a:r>
          </a:p>
          <a:p>
            <a:pPr algn="ctr"/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AD7EAE4-3068-39A2-0481-12F6E81EE5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4999" y="1633987"/>
            <a:ext cx="5059680" cy="4205621"/>
          </a:xfrm>
          <a:prstGeom prst="rect">
            <a:avLst/>
          </a:prstGeom>
          <a:noFill/>
          <a:ln cap="rnd">
            <a:solidFill>
              <a:srgbClr val="F1F4F9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1314089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8B3FF-D84B-ECE9-7F36-D56799B7A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C3E1604-A1C4-6346-F71F-A02CBD0797A4}"/>
              </a:ext>
            </a:extLst>
          </p:cNvPr>
          <p:cNvSpPr txBox="1"/>
          <p:nvPr/>
        </p:nvSpPr>
        <p:spPr>
          <a:xfrm>
            <a:off x="437321" y="596348"/>
            <a:ext cx="99893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1F4E79"/>
                </a:solidFill>
              </a:rPr>
              <a:t>O Melhor Modelo: XGBoost Otimizado</a:t>
            </a:r>
            <a:endParaRPr lang="pt-BR" sz="3600" dirty="0">
              <a:solidFill>
                <a:srgbClr val="1F4E79"/>
              </a:solidFill>
              <a:effectLst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D234761-3708-9262-6003-8E5F66735717}"/>
              </a:ext>
            </a:extLst>
          </p:cNvPr>
          <p:cNvSpPr txBox="1"/>
          <p:nvPr/>
        </p:nvSpPr>
        <p:spPr>
          <a:xfrm>
            <a:off x="437321" y="1633987"/>
            <a:ext cx="578567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Ajuste fino de </a:t>
            </a:r>
            <a:r>
              <a:rPr lang="pt-BR" dirty="0" err="1"/>
              <a:t>hiperparâmetros</a:t>
            </a:r>
            <a:r>
              <a:rPr lang="pt-BR" dirty="0"/>
              <a:t> realizado por meio de </a:t>
            </a:r>
            <a:r>
              <a:rPr lang="pt-BR" b="1" dirty="0"/>
              <a:t>Grid Search</a:t>
            </a:r>
            <a:r>
              <a:rPr lang="pt-BR" dirty="0"/>
              <a:t>. O modelo ofereceu o melhor compromisso entre desempenho e viabilidade logística. </a:t>
            </a:r>
          </a:p>
          <a:p>
            <a:endParaRPr lang="pt-BR" dirty="0"/>
          </a:p>
          <a:p>
            <a:r>
              <a:rPr lang="pt-BR" b="1" dirty="0">
                <a:solidFill>
                  <a:srgbClr val="1A587E"/>
                </a:solidFill>
              </a:rPr>
              <a:t>Métricas Finais</a:t>
            </a:r>
            <a:r>
              <a:rPr lang="pt-BR" dirty="0">
                <a:solidFill>
                  <a:srgbClr val="1A587E"/>
                </a:solidFill>
              </a:rPr>
              <a:t>: </a:t>
            </a:r>
          </a:p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AUC-ROC</a:t>
            </a:r>
            <a:r>
              <a:rPr lang="pt-BR" dirty="0"/>
              <a:t>: 0,82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Acurácia Balanceada</a:t>
            </a:r>
            <a:r>
              <a:rPr lang="pt-BR" dirty="0"/>
              <a:t>: 0,73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Revocação (Recall)</a:t>
            </a:r>
            <a:r>
              <a:rPr lang="pt-BR" dirty="0"/>
              <a:t>: 0,57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Precisão</a:t>
            </a:r>
            <a:r>
              <a:rPr lang="pt-BR" dirty="0"/>
              <a:t>: 0,32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F1-score</a:t>
            </a:r>
            <a:r>
              <a:rPr lang="pt-BR" dirty="0"/>
              <a:t>: 0,41 </a:t>
            </a:r>
          </a:p>
          <a:p>
            <a:endParaRPr lang="pt-BR" dirty="0"/>
          </a:p>
          <a:p>
            <a:pPr algn="ctr"/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E8946CB-AFF0-5E7D-CBCE-992DF1535D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4999" y="1633987"/>
            <a:ext cx="5059680" cy="4205621"/>
          </a:xfrm>
          <a:prstGeom prst="rect">
            <a:avLst/>
          </a:prstGeom>
          <a:noFill/>
          <a:ln cap="rnd">
            <a:solidFill>
              <a:srgbClr val="F1F4F9"/>
            </a:solidFill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10892320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60208-D0C9-7DE0-7593-BC49FA2F3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47BE4F2-241A-69C9-1933-0953EB92C65B}"/>
              </a:ext>
            </a:extLst>
          </p:cNvPr>
          <p:cNvSpPr txBox="1"/>
          <p:nvPr/>
        </p:nvSpPr>
        <p:spPr>
          <a:xfrm>
            <a:off x="437321" y="596348"/>
            <a:ext cx="99893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1F4E79"/>
                </a:solidFill>
              </a:rPr>
              <a:t>Robustez do Modelo: Avaliação de Data Leakage</a:t>
            </a:r>
            <a:endParaRPr lang="pt-BR" sz="3600" dirty="0">
              <a:solidFill>
                <a:srgbClr val="1F4E79"/>
              </a:solidFill>
              <a:effectLst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06A9FEB1-578C-9753-695E-DC1992741065}"/>
              </a:ext>
            </a:extLst>
          </p:cNvPr>
          <p:cNvSpPr/>
          <p:nvPr/>
        </p:nvSpPr>
        <p:spPr>
          <a:xfrm>
            <a:off x="574261" y="1449242"/>
            <a:ext cx="5234609" cy="443472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200" b="1" dirty="0">
                <a:solidFill>
                  <a:srgbClr val="1A587E"/>
                </a:solidFill>
              </a:rPr>
              <a:t>O Risco de Vazamento Temporal</a:t>
            </a:r>
            <a:r>
              <a:rPr lang="pt-BR" sz="2200" dirty="0">
                <a:solidFill>
                  <a:srgbClr val="1A587E"/>
                </a:solidFill>
              </a:rPr>
              <a:t>:</a:t>
            </a:r>
          </a:p>
          <a:p>
            <a:r>
              <a:rPr lang="pt-BR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Variáveis temporais muito preditivas (como </a:t>
            </a:r>
            <a:r>
              <a:rPr lang="pt-BR" b="1" dirty="0" err="1"/>
              <a:t>approved_to_carrier</a:t>
            </a:r>
            <a:r>
              <a:rPr lang="pt-BR" dirty="0"/>
              <a:t>) carregam informações que podem não estar disponíveis imediatamente no momento da compra (T0).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 Para atestar a viabilidade real em cenários de </a:t>
            </a:r>
            <a:r>
              <a:rPr lang="pt-BR" b="1" dirty="0"/>
              <a:t>predição imediata</a:t>
            </a:r>
            <a:r>
              <a:rPr lang="pt-BR" dirty="0"/>
              <a:t>, foi construído e avaliado um modelo restrito apenas às variáveis conhecidas em T0. </a:t>
            </a:r>
          </a:p>
          <a:p>
            <a:endParaRPr lang="pt-BR" dirty="0">
              <a:solidFill>
                <a:srgbClr val="D9E1F2"/>
              </a:solidFill>
            </a:endParaRPr>
          </a:p>
          <a:p>
            <a:endParaRPr lang="pt-BR" dirty="0">
              <a:solidFill>
                <a:srgbClr val="D9E1F2"/>
              </a:solidFill>
            </a:endParaRPr>
          </a:p>
          <a:p>
            <a:endParaRPr lang="pt-BR" dirty="0">
              <a:solidFill>
                <a:srgbClr val="D9E1F2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D735AA1-7BA0-04CA-0023-7758964EC4C0}"/>
              </a:ext>
            </a:extLst>
          </p:cNvPr>
          <p:cNvSpPr txBox="1"/>
          <p:nvPr/>
        </p:nvSpPr>
        <p:spPr>
          <a:xfrm>
            <a:off x="6096000" y="1449242"/>
            <a:ext cx="565150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b="1" dirty="0">
                <a:solidFill>
                  <a:srgbClr val="1A587E"/>
                </a:solidFill>
              </a:rPr>
              <a:t>Impacto no XGBoost</a:t>
            </a:r>
            <a:r>
              <a:rPr lang="pt-BR" sz="2200" dirty="0">
                <a:solidFill>
                  <a:srgbClr val="1A587E"/>
                </a:solidFill>
              </a:rPr>
              <a:t>:</a:t>
            </a:r>
          </a:p>
          <a:p>
            <a:endParaRPr lang="pt-BR" dirty="0"/>
          </a:p>
          <a:p>
            <a:r>
              <a:rPr lang="pt-BR" dirty="0"/>
              <a:t>A ausência das variáveis pós-compra causa uma queda de aproximadamente 10% no F1-score, evidenciando sua importância, porém mantendo viabilidade.</a:t>
            </a:r>
            <a:endParaRPr lang="pt-BR" dirty="0">
              <a:solidFill>
                <a:schemeClr val="bg1"/>
              </a:solidFill>
            </a:endParaRP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A2B67161-826A-3C73-8B26-2EFAFD61CE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3308393"/>
              </p:ext>
            </p:extLst>
          </p:nvPr>
        </p:nvGraphicFramePr>
        <p:xfrm>
          <a:off x="6096000" y="3133132"/>
          <a:ext cx="5785678" cy="27508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57300">
                  <a:extLst>
                    <a:ext uri="{9D8B030D-6E8A-4147-A177-3AD203B41FA5}">
                      <a16:colId xmlns:a16="http://schemas.microsoft.com/office/drawing/2014/main" val="4294326713"/>
                    </a:ext>
                  </a:extLst>
                </a:gridCol>
                <a:gridCol w="1172037">
                  <a:extLst>
                    <a:ext uri="{9D8B030D-6E8A-4147-A177-3AD203B41FA5}">
                      <a16:colId xmlns:a16="http://schemas.microsoft.com/office/drawing/2014/main" val="2355476666"/>
                    </a:ext>
                  </a:extLst>
                </a:gridCol>
                <a:gridCol w="1125647">
                  <a:extLst>
                    <a:ext uri="{9D8B030D-6E8A-4147-A177-3AD203B41FA5}">
                      <a16:colId xmlns:a16="http://schemas.microsoft.com/office/drawing/2014/main" val="2627140881"/>
                    </a:ext>
                  </a:extLst>
                </a:gridCol>
                <a:gridCol w="1194069">
                  <a:extLst>
                    <a:ext uri="{9D8B030D-6E8A-4147-A177-3AD203B41FA5}">
                      <a16:colId xmlns:a16="http://schemas.microsoft.com/office/drawing/2014/main" val="3100453845"/>
                    </a:ext>
                  </a:extLst>
                </a:gridCol>
                <a:gridCol w="1036625">
                  <a:extLst>
                    <a:ext uri="{9D8B030D-6E8A-4147-A177-3AD203B41FA5}">
                      <a16:colId xmlns:a16="http://schemas.microsoft.com/office/drawing/2014/main" val="1213789432"/>
                    </a:ext>
                  </a:extLst>
                </a:gridCol>
              </a:tblGrid>
              <a:tr h="7877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pt-BR" sz="1500" dirty="0">
                          <a:effectLst/>
                        </a:rPr>
                        <a:t>Versão do </a:t>
                      </a:r>
                      <a:r>
                        <a:rPr lang="pt-BR" sz="1500" dirty="0" err="1">
                          <a:effectLst/>
                        </a:rPr>
                        <a:t>Xgboost</a:t>
                      </a:r>
                      <a:endParaRPr lang="pt-BR" sz="15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rgbClr val="0046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500" dirty="0">
                          <a:effectLst/>
                        </a:rPr>
                        <a:t>Acurácia Balanceada</a:t>
                      </a:r>
                      <a:endParaRPr lang="pt-BR" sz="15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rgbClr val="0046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500">
                          <a:effectLst/>
                        </a:rPr>
                        <a:t>Precisão</a:t>
                      </a:r>
                      <a:endParaRPr lang="pt-BR" sz="15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rgbClr val="0046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500">
                          <a:effectLst/>
                        </a:rPr>
                        <a:t>Revocação</a:t>
                      </a:r>
                      <a:endParaRPr lang="pt-BR" sz="15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rgbClr val="0046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500" dirty="0">
                          <a:effectLst/>
                        </a:rPr>
                        <a:t>F1-score</a:t>
                      </a:r>
                      <a:endParaRPr lang="pt-BR" sz="15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rgbClr val="0046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0236840"/>
                  </a:ext>
                </a:extLst>
              </a:tr>
              <a:tr h="58766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pt-BR" sz="1500" b="0" dirty="0">
                          <a:solidFill>
                            <a:schemeClr val="tx1"/>
                          </a:solidFill>
                          <a:effectLst/>
                        </a:rPr>
                        <a:t>Parâmetros padrão</a:t>
                      </a:r>
                      <a:endParaRPr lang="pt-BR" sz="15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500" dirty="0">
                          <a:solidFill>
                            <a:schemeClr val="tx1"/>
                          </a:solidFill>
                          <a:effectLst/>
                        </a:rPr>
                        <a:t>0,74</a:t>
                      </a:r>
                      <a:endParaRPr lang="pt-BR" sz="15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500" dirty="0">
                          <a:solidFill>
                            <a:schemeClr val="tx1"/>
                          </a:solidFill>
                          <a:effectLst/>
                        </a:rPr>
                        <a:t>0,24</a:t>
                      </a:r>
                      <a:endParaRPr lang="pt-BR" sz="15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500" dirty="0">
                          <a:solidFill>
                            <a:schemeClr val="tx1"/>
                          </a:solidFill>
                          <a:effectLst/>
                        </a:rPr>
                        <a:t>0,66</a:t>
                      </a:r>
                      <a:endParaRPr lang="pt-BR" sz="15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500" dirty="0">
                          <a:solidFill>
                            <a:schemeClr val="tx1"/>
                          </a:solidFill>
                          <a:effectLst/>
                        </a:rPr>
                        <a:t>0,35</a:t>
                      </a:r>
                      <a:endParaRPr lang="pt-BR" sz="15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2186141"/>
                  </a:ext>
                </a:extLst>
              </a:tr>
              <a:tr h="7877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pt-BR" sz="1500" b="0" dirty="0">
                          <a:solidFill>
                            <a:srgbClr val="FF0000"/>
                          </a:solidFill>
                          <a:effectLst/>
                        </a:rPr>
                        <a:t>Sem Leakage (T0)</a:t>
                      </a:r>
                      <a:endParaRPr lang="pt-BR" sz="1500" b="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500">
                          <a:solidFill>
                            <a:srgbClr val="FF0000"/>
                          </a:solidFill>
                          <a:effectLst/>
                        </a:rPr>
                        <a:t>0,66</a:t>
                      </a:r>
                      <a:endParaRPr lang="pt-BR" sz="150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500" dirty="0">
                          <a:solidFill>
                            <a:srgbClr val="FF0000"/>
                          </a:solidFill>
                          <a:effectLst/>
                        </a:rPr>
                        <a:t>0,24</a:t>
                      </a:r>
                      <a:endParaRPr lang="pt-BR" sz="15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500" dirty="0">
                          <a:solidFill>
                            <a:srgbClr val="FF0000"/>
                          </a:solidFill>
                          <a:effectLst/>
                        </a:rPr>
                        <a:t>0,43</a:t>
                      </a:r>
                      <a:endParaRPr lang="pt-BR" sz="15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500" dirty="0">
                          <a:solidFill>
                            <a:srgbClr val="FF0000"/>
                          </a:solidFill>
                          <a:effectLst/>
                        </a:rPr>
                        <a:t>0,31</a:t>
                      </a:r>
                      <a:endParaRPr lang="pt-BR" sz="15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982453"/>
                  </a:ext>
                </a:extLst>
              </a:tr>
              <a:tr h="587666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pt-BR" sz="1500" b="1" dirty="0">
                          <a:solidFill>
                            <a:srgbClr val="1A587E"/>
                          </a:solidFill>
                          <a:effectLst/>
                        </a:rPr>
                        <a:t>Após </a:t>
                      </a:r>
                      <a:r>
                        <a:rPr lang="pt-BR" sz="1500" b="1" dirty="0" err="1">
                          <a:solidFill>
                            <a:srgbClr val="1A587E"/>
                          </a:solidFill>
                          <a:effectLst/>
                        </a:rPr>
                        <a:t>GridSearch</a:t>
                      </a:r>
                      <a:endParaRPr lang="pt-BR" sz="1500" b="1" dirty="0">
                        <a:solidFill>
                          <a:srgbClr val="1A587E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500" b="1" dirty="0">
                          <a:solidFill>
                            <a:srgbClr val="1A587E"/>
                          </a:solidFill>
                          <a:effectLst/>
                        </a:rPr>
                        <a:t>0,73</a:t>
                      </a:r>
                      <a:endParaRPr lang="pt-BR" sz="1500" b="1" dirty="0">
                        <a:solidFill>
                          <a:srgbClr val="1A587E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500" b="1" dirty="0">
                          <a:solidFill>
                            <a:srgbClr val="1A587E"/>
                          </a:solidFill>
                          <a:effectLst/>
                        </a:rPr>
                        <a:t>0,32</a:t>
                      </a:r>
                      <a:endParaRPr lang="pt-BR" sz="1500" b="1" dirty="0">
                        <a:solidFill>
                          <a:srgbClr val="1A587E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500" b="1" dirty="0">
                          <a:solidFill>
                            <a:srgbClr val="1A587E"/>
                          </a:solidFill>
                          <a:effectLst/>
                        </a:rPr>
                        <a:t>0,57</a:t>
                      </a:r>
                      <a:endParaRPr lang="pt-BR" sz="1500" b="1" dirty="0">
                        <a:solidFill>
                          <a:srgbClr val="1A587E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500" b="1" dirty="0">
                          <a:solidFill>
                            <a:srgbClr val="1A587E"/>
                          </a:solidFill>
                          <a:effectLst/>
                        </a:rPr>
                        <a:t>0,41</a:t>
                      </a:r>
                      <a:endParaRPr lang="pt-BR" sz="1500" b="1" dirty="0">
                        <a:solidFill>
                          <a:srgbClr val="1A587E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475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12860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627DD-F807-4696-BFF6-CA6101834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DB2093A-847D-7B6E-B771-F88682FA1936}"/>
              </a:ext>
            </a:extLst>
          </p:cNvPr>
          <p:cNvSpPr txBox="1"/>
          <p:nvPr/>
        </p:nvSpPr>
        <p:spPr>
          <a:xfrm>
            <a:off x="437321" y="596348"/>
            <a:ext cx="99893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1F4E79"/>
                </a:solidFill>
              </a:rPr>
              <a:t>Robustez do Modelo: Avaliação de Data Leakage</a:t>
            </a:r>
            <a:endParaRPr lang="pt-BR" sz="3600" dirty="0">
              <a:solidFill>
                <a:srgbClr val="1F4E79"/>
              </a:solidFill>
              <a:effectLst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ABC99CCD-F5B4-5554-5837-88B31805CF18}"/>
              </a:ext>
            </a:extLst>
          </p:cNvPr>
          <p:cNvSpPr/>
          <p:nvPr/>
        </p:nvSpPr>
        <p:spPr>
          <a:xfrm>
            <a:off x="6210299" y="1449242"/>
            <a:ext cx="5432426" cy="411479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2200" b="1" dirty="0">
                <a:solidFill>
                  <a:srgbClr val="1A587E"/>
                </a:solidFill>
              </a:rPr>
              <a:t>O Risco de Vazamento Temporal</a:t>
            </a:r>
            <a:r>
              <a:rPr lang="pt-BR" sz="2200" dirty="0">
                <a:solidFill>
                  <a:srgbClr val="1A587E"/>
                </a:solidFill>
              </a:rPr>
              <a:t>:</a:t>
            </a:r>
          </a:p>
          <a:p>
            <a:r>
              <a:rPr lang="pt-BR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Variáveis temporais (</a:t>
            </a:r>
            <a:r>
              <a:rPr lang="pt-BR" dirty="0" err="1"/>
              <a:t>ex</a:t>
            </a:r>
            <a:r>
              <a:rPr lang="pt-BR" dirty="0"/>
              <a:t>: </a:t>
            </a:r>
            <a:r>
              <a:rPr lang="pt-BR" dirty="0" err="1"/>
              <a:t>approved_to_carrier</a:t>
            </a:r>
            <a:r>
              <a:rPr lang="pt-BR" dirty="0"/>
              <a:t>) podem conter dados indisponíveis no momento da compra (T0).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Para garantir a viabilidade em predição imediata, avaliamos um modelo restrito a variáveis conhecidas em T0.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Impacto no XGBoost: A remoção de variáveis pós-compra reduz o F1-score em ~10%, mantendo, contudo, a viabilidade do modelo.</a:t>
            </a:r>
          </a:p>
          <a:p>
            <a:endParaRPr lang="pt-BR" dirty="0">
              <a:solidFill>
                <a:srgbClr val="D9E1F2"/>
              </a:solidFill>
            </a:endParaRPr>
          </a:p>
          <a:p>
            <a:endParaRPr lang="pt-BR" dirty="0">
              <a:solidFill>
                <a:srgbClr val="D9E1F2"/>
              </a:solidFill>
            </a:endParaRP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AA96A5F8-F0A7-9FFB-E302-B2C24BD89A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661682"/>
              </p:ext>
            </p:extLst>
          </p:nvPr>
        </p:nvGraphicFramePr>
        <p:xfrm>
          <a:off x="549275" y="1449242"/>
          <a:ext cx="5546725" cy="41147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05373">
                  <a:extLst>
                    <a:ext uri="{9D8B030D-6E8A-4147-A177-3AD203B41FA5}">
                      <a16:colId xmlns:a16="http://schemas.microsoft.com/office/drawing/2014/main" val="4294326713"/>
                    </a:ext>
                  </a:extLst>
                </a:gridCol>
                <a:gridCol w="1444225">
                  <a:extLst>
                    <a:ext uri="{9D8B030D-6E8A-4147-A177-3AD203B41FA5}">
                      <a16:colId xmlns:a16="http://schemas.microsoft.com/office/drawing/2014/main" val="2355476666"/>
                    </a:ext>
                  </a:extLst>
                </a:gridCol>
                <a:gridCol w="758563">
                  <a:extLst>
                    <a:ext uri="{9D8B030D-6E8A-4147-A177-3AD203B41FA5}">
                      <a16:colId xmlns:a16="http://schemas.microsoft.com/office/drawing/2014/main" val="2627140881"/>
                    </a:ext>
                  </a:extLst>
                </a:gridCol>
                <a:gridCol w="1144753">
                  <a:extLst>
                    <a:ext uri="{9D8B030D-6E8A-4147-A177-3AD203B41FA5}">
                      <a16:colId xmlns:a16="http://schemas.microsoft.com/office/drawing/2014/main" val="3100453845"/>
                    </a:ext>
                  </a:extLst>
                </a:gridCol>
                <a:gridCol w="993811">
                  <a:extLst>
                    <a:ext uri="{9D8B030D-6E8A-4147-A177-3AD203B41FA5}">
                      <a16:colId xmlns:a16="http://schemas.microsoft.com/office/drawing/2014/main" val="1213789432"/>
                    </a:ext>
                  </a:extLst>
                </a:gridCol>
              </a:tblGrid>
              <a:tr h="117834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pt-BR" sz="1500" dirty="0">
                          <a:effectLst/>
                        </a:rPr>
                        <a:t>Versão do </a:t>
                      </a:r>
                      <a:r>
                        <a:rPr lang="pt-BR" sz="1500" dirty="0" err="1">
                          <a:effectLst/>
                        </a:rPr>
                        <a:t>Xgboost</a:t>
                      </a:r>
                      <a:endParaRPr lang="pt-BR" sz="15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rgbClr val="0046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500" dirty="0">
                          <a:effectLst/>
                        </a:rPr>
                        <a:t>Acurácia Balanceada</a:t>
                      </a:r>
                      <a:endParaRPr lang="pt-BR" sz="15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rgbClr val="0046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500">
                          <a:effectLst/>
                        </a:rPr>
                        <a:t>Precisão</a:t>
                      </a:r>
                      <a:endParaRPr lang="pt-BR" sz="15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rgbClr val="0046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500">
                          <a:effectLst/>
                        </a:rPr>
                        <a:t>Revocação</a:t>
                      </a:r>
                      <a:endParaRPr lang="pt-BR" sz="15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rgbClr val="0046B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500" dirty="0">
                          <a:effectLst/>
                        </a:rPr>
                        <a:t>F1-score</a:t>
                      </a:r>
                      <a:endParaRPr lang="pt-BR" sz="1500" dirty="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rgbClr val="0046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0236840"/>
                  </a:ext>
                </a:extLst>
              </a:tr>
              <a:tr h="87905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pt-BR" sz="1500" b="0" dirty="0">
                          <a:solidFill>
                            <a:schemeClr val="tx1"/>
                          </a:solidFill>
                          <a:effectLst/>
                        </a:rPr>
                        <a:t>Parâmetros padrão</a:t>
                      </a:r>
                      <a:endParaRPr lang="pt-BR" sz="15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500" dirty="0">
                          <a:solidFill>
                            <a:schemeClr val="tx1"/>
                          </a:solidFill>
                          <a:effectLst/>
                        </a:rPr>
                        <a:t>0,74</a:t>
                      </a:r>
                      <a:endParaRPr lang="pt-BR" sz="15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500" dirty="0">
                          <a:solidFill>
                            <a:schemeClr val="tx1"/>
                          </a:solidFill>
                          <a:effectLst/>
                        </a:rPr>
                        <a:t>0,24</a:t>
                      </a:r>
                      <a:endParaRPr lang="pt-BR" sz="15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500" dirty="0">
                          <a:solidFill>
                            <a:schemeClr val="tx1"/>
                          </a:solidFill>
                          <a:effectLst/>
                        </a:rPr>
                        <a:t>0,66</a:t>
                      </a:r>
                      <a:endParaRPr lang="pt-BR" sz="15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500" dirty="0">
                          <a:solidFill>
                            <a:schemeClr val="tx1"/>
                          </a:solidFill>
                          <a:effectLst/>
                        </a:rPr>
                        <a:t>0,35</a:t>
                      </a:r>
                      <a:endParaRPr lang="pt-BR" sz="15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2186141"/>
                  </a:ext>
                </a:extLst>
              </a:tr>
              <a:tr h="117834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pt-BR" sz="1500" b="1" dirty="0">
                          <a:solidFill>
                            <a:schemeClr val="tx1"/>
                          </a:solidFill>
                          <a:effectLst/>
                        </a:rPr>
                        <a:t>Sem Leakage (T0)</a:t>
                      </a:r>
                      <a:endParaRPr lang="pt-BR" sz="15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500" b="1">
                          <a:solidFill>
                            <a:schemeClr val="tx1"/>
                          </a:solidFill>
                          <a:effectLst/>
                        </a:rPr>
                        <a:t>0,66</a:t>
                      </a:r>
                      <a:endParaRPr lang="pt-BR" sz="1500" b="1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500" b="1" dirty="0">
                          <a:solidFill>
                            <a:schemeClr val="tx1"/>
                          </a:solidFill>
                          <a:effectLst/>
                        </a:rPr>
                        <a:t>0,24</a:t>
                      </a:r>
                      <a:endParaRPr lang="pt-BR" sz="15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500" b="1" dirty="0">
                          <a:solidFill>
                            <a:schemeClr val="tx1"/>
                          </a:solidFill>
                          <a:effectLst/>
                        </a:rPr>
                        <a:t>0,43</a:t>
                      </a:r>
                      <a:endParaRPr lang="pt-BR" sz="15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500" b="1" dirty="0">
                          <a:solidFill>
                            <a:schemeClr val="tx1"/>
                          </a:solidFill>
                          <a:effectLst/>
                        </a:rPr>
                        <a:t>0,31</a:t>
                      </a:r>
                      <a:endParaRPr lang="pt-BR" sz="15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982453"/>
                  </a:ext>
                </a:extLst>
              </a:tr>
              <a:tr h="87905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pt-BR" sz="1500" b="1" dirty="0">
                          <a:solidFill>
                            <a:srgbClr val="1A587E"/>
                          </a:solidFill>
                          <a:effectLst/>
                        </a:rPr>
                        <a:t>Após </a:t>
                      </a:r>
                      <a:r>
                        <a:rPr lang="pt-BR" sz="1500" b="1" dirty="0" err="1">
                          <a:solidFill>
                            <a:srgbClr val="1A587E"/>
                          </a:solidFill>
                          <a:effectLst/>
                        </a:rPr>
                        <a:t>GridSearch</a:t>
                      </a:r>
                      <a:endParaRPr lang="pt-BR" sz="1500" b="1" dirty="0">
                        <a:solidFill>
                          <a:srgbClr val="1A587E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500" b="1" dirty="0">
                          <a:solidFill>
                            <a:srgbClr val="1A587E"/>
                          </a:solidFill>
                          <a:effectLst/>
                        </a:rPr>
                        <a:t>0,73</a:t>
                      </a:r>
                      <a:endParaRPr lang="pt-BR" sz="1500" b="1" dirty="0">
                        <a:solidFill>
                          <a:srgbClr val="1A587E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500" b="1" dirty="0">
                          <a:solidFill>
                            <a:srgbClr val="1A587E"/>
                          </a:solidFill>
                          <a:effectLst/>
                        </a:rPr>
                        <a:t>0,32</a:t>
                      </a:r>
                      <a:endParaRPr lang="pt-BR" sz="1500" b="1" dirty="0">
                        <a:solidFill>
                          <a:srgbClr val="1A587E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500" b="1" dirty="0">
                          <a:solidFill>
                            <a:srgbClr val="1A587E"/>
                          </a:solidFill>
                          <a:effectLst/>
                        </a:rPr>
                        <a:t>0,57</a:t>
                      </a:r>
                      <a:endParaRPr lang="pt-BR" sz="1500" b="1" dirty="0">
                        <a:solidFill>
                          <a:srgbClr val="1A587E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lang="pt-BR" sz="1500" b="1" dirty="0">
                          <a:solidFill>
                            <a:srgbClr val="1A587E"/>
                          </a:solidFill>
                          <a:effectLst/>
                        </a:rPr>
                        <a:t>0,41</a:t>
                      </a:r>
                      <a:endParaRPr lang="pt-BR" sz="1500" b="1" dirty="0">
                        <a:solidFill>
                          <a:srgbClr val="1A587E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4752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94051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3381A-28A9-B63D-FA61-77D236B48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6F6D26BC-97BB-5541-BDD6-D0095671C97D}"/>
              </a:ext>
            </a:extLst>
          </p:cNvPr>
          <p:cNvSpPr/>
          <p:nvPr/>
        </p:nvSpPr>
        <p:spPr>
          <a:xfrm>
            <a:off x="8185150" y="1318879"/>
            <a:ext cx="3695700" cy="443472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pt-BR" dirty="0">
              <a:solidFill>
                <a:srgbClr val="D9E1F2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D90BE7E1-D5AA-87A5-CD58-C8654FA0E234}"/>
              </a:ext>
            </a:extLst>
          </p:cNvPr>
          <p:cNvSpPr txBox="1"/>
          <p:nvPr/>
        </p:nvSpPr>
        <p:spPr>
          <a:xfrm>
            <a:off x="437321" y="596348"/>
            <a:ext cx="99893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1F4E79"/>
                </a:solidFill>
              </a:rPr>
              <a:t>Visão Executiva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1034A0C-B7FF-3820-532F-1ED4470862E5}"/>
              </a:ext>
            </a:extLst>
          </p:cNvPr>
          <p:cNvSpPr txBox="1"/>
          <p:nvPr/>
        </p:nvSpPr>
        <p:spPr>
          <a:xfrm>
            <a:off x="8274050" y="1690542"/>
            <a:ext cx="3606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1A587E"/>
                </a:solidFill>
              </a:rPr>
              <a:t>Insights Gerenciais</a:t>
            </a:r>
            <a:r>
              <a:rPr lang="pt-BR" dirty="0">
                <a:solidFill>
                  <a:srgbClr val="1A587E"/>
                </a:solidFill>
              </a:rPr>
              <a:t>: </a:t>
            </a:r>
          </a:p>
          <a:p>
            <a:endParaRPr lang="pt-BR" dirty="0"/>
          </a:p>
          <a:p>
            <a:r>
              <a:rPr lang="pt-BR" dirty="0"/>
              <a:t>Visão consolidada para os gestores acompanharem o SLA de entregas e os principais ofensores.</a:t>
            </a:r>
          </a:p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Atrasos concentrados por demanda (SP, RJ, MG).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Sazonalidade evidente nos períodos promocionais. 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61F278A2-407D-AEE6-2F6A-0EA3F2649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50" y="1318879"/>
            <a:ext cx="7778750" cy="443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1865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AB06A-1C4F-9057-E8F1-7D565DF71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D757DE09-A2D7-6046-2551-59585928F21D}"/>
              </a:ext>
            </a:extLst>
          </p:cNvPr>
          <p:cNvSpPr/>
          <p:nvPr/>
        </p:nvSpPr>
        <p:spPr>
          <a:xfrm>
            <a:off x="8972550" y="1318879"/>
            <a:ext cx="2908300" cy="443472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pt-BR" dirty="0">
              <a:solidFill>
                <a:srgbClr val="D9E1F2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3C23A486-9ED7-67EC-3A9E-85D0AB199A0A}"/>
              </a:ext>
            </a:extLst>
          </p:cNvPr>
          <p:cNvSpPr txBox="1"/>
          <p:nvPr/>
        </p:nvSpPr>
        <p:spPr>
          <a:xfrm>
            <a:off x="437321" y="596348"/>
            <a:ext cx="99893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1F4E79"/>
                </a:solidFill>
              </a:rPr>
              <a:t>Visão Executiva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172D06-8E26-82E3-EC9C-5C723C831BD2}"/>
              </a:ext>
            </a:extLst>
          </p:cNvPr>
          <p:cNvSpPr txBox="1"/>
          <p:nvPr/>
        </p:nvSpPr>
        <p:spPr>
          <a:xfrm>
            <a:off x="9048750" y="1690542"/>
            <a:ext cx="2832099" cy="253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1A587E"/>
                </a:solidFill>
              </a:rPr>
              <a:t>Insights Gerenciais</a:t>
            </a:r>
            <a:r>
              <a:rPr lang="pt-BR" dirty="0">
                <a:solidFill>
                  <a:srgbClr val="1A587E"/>
                </a:solidFill>
              </a:rPr>
              <a:t>: </a:t>
            </a:r>
          </a:p>
          <a:p>
            <a:endParaRPr lang="pt-BR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Atrasos concentrados por demanda (SP, RJ, MG).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Sazonalidade evidente nos períodos promocionais. 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736B196B-8A94-393D-7056-D0FAF983D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49" y="1318879"/>
            <a:ext cx="8181975" cy="443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4104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BC17C-AFAC-0E88-5F72-5A81415EA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8C87BEB1-F08A-D6F1-B339-4608A664E25E}"/>
              </a:ext>
            </a:extLst>
          </p:cNvPr>
          <p:cNvSpPr/>
          <p:nvPr/>
        </p:nvSpPr>
        <p:spPr>
          <a:xfrm>
            <a:off x="8362950" y="1318877"/>
            <a:ext cx="3606800" cy="467552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pt-BR" dirty="0">
              <a:solidFill>
                <a:srgbClr val="D9E1F2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D38640E-13D8-0151-A392-97C762D1818D}"/>
              </a:ext>
            </a:extLst>
          </p:cNvPr>
          <p:cNvSpPr txBox="1"/>
          <p:nvPr/>
        </p:nvSpPr>
        <p:spPr>
          <a:xfrm>
            <a:off x="437321" y="596348"/>
            <a:ext cx="99893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1F4E79"/>
                </a:solidFill>
              </a:rPr>
              <a:t>Análise Operacional dos Fatores de Risco</a:t>
            </a:r>
            <a:endParaRPr lang="pt-BR" sz="3600" dirty="0">
              <a:solidFill>
                <a:srgbClr val="1F4E79"/>
              </a:solidFill>
              <a:effectLst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5438005-669E-D4FB-A2FA-8777405B2D85}"/>
              </a:ext>
            </a:extLst>
          </p:cNvPr>
          <p:cNvSpPr txBox="1"/>
          <p:nvPr/>
        </p:nvSpPr>
        <p:spPr>
          <a:xfrm>
            <a:off x="8451850" y="1690542"/>
            <a:ext cx="3606800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1A587E"/>
                </a:solidFill>
              </a:rPr>
              <a:t>Insights Técnicos:</a:t>
            </a:r>
          </a:p>
          <a:p>
            <a:endParaRPr lang="pt-BR" dirty="0"/>
          </a:p>
          <a:p>
            <a:r>
              <a:rPr lang="pt-BR" sz="1500" dirty="0"/>
              <a:t>Visão consolidada para os gestores acompanharem os principais fatores de risco da operação logística:</a:t>
            </a:r>
          </a:p>
          <a:p>
            <a:endParaRPr lang="pt-BR" sz="15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500" dirty="0"/>
              <a:t>A maior parte dos atrasos ocorre em distâncias menores, onde há maior volume de pedidos, indicando gargalos operacionais mais do que problemas de distância.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500" dirty="0"/>
              <a:t>O tempo médio entre aprovação e envio à transportadora é significativamente maior em pedidos que atrasaram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500" dirty="0"/>
              <a:t>Vendedores com maior volume de pedidos não necessariamente apresentam melhor desempenho</a:t>
            </a:r>
          </a:p>
          <a:p>
            <a:endParaRPr lang="pt-BR" dirty="0">
              <a:effectLst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9447BF1-1C9F-585B-24AC-1B84B221B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21" y="1318877"/>
            <a:ext cx="7747829" cy="4675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1670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7871A-709F-757D-76DE-10C6D0918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79EEA884-0B75-A34C-F721-D64CEC8C2C75}"/>
              </a:ext>
            </a:extLst>
          </p:cNvPr>
          <p:cNvSpPr/>
          <p:nvPr/>
        </p:nvSpPr>
        <p:spPr>
          <a:xfrm>
            <a:off x="8839200" y="1318877"/>
            <a:ext cx="3130550" cy="467552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pt-BR" dirty="0">
              <a:solidFill>
                <a:srgbClr val="D9E1F2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F7E2940-BBBF-E3ED-BBD2-17CF19478BC6}"/>
              </a:ext>
            </a:extLst>
          </p:cNvPr>
          <p:cNvSpPr txBox="1"/>
          <p:nvPr/>
        </p:nvSpPr>
        <p:spPr>
          <a:xfrm>
            <a:off x="437321" y="596348"/>
            <a:ext cx="99893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1F4E79"/>
                </a:solidFill>
              </a:rPr>
              <a:t>Análise Operacional dos Fatores de Risco</a:t>
            </a:r>
            <a:endParaRPr lang="pt-BR" sz="3600" dirty="0">
              <a:solidFill>
                <a:srgbClr val="1F4E79"/>
              </a:solidFill>
              <a:effectLst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FFBE1C1-65F7-0B49-FFB8-04EB81A33C8F}"/>
              </a:ext>
            </a:extLst>
          </p:cNvPr>
          <p:cNvSpPr txBox="1"/>
          <p:nvPr/>
        </p:nvSpPr>
        <p:spPr>
          <a:xfrm>
            <a:off x="8928098" y="1532978"/>
            <a:ext cx="313055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1A587E"/>
                </a:solidFill>
              </a:rPr>
              <a:t>Insights Técnicos:</a:t>
            </a:r>
          </a:p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 maior parte dos atrasos ocorre em distâncias menores.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Tempo médio de aprovação e envio é maior em pedidos que atrasaram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endParaRPr lang="pt-BR" dirty="0">
              <a:effectLst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411AF23-74E5-1E05-EEA3-BBE8C4F4A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1318877"/>
            <a:ext cx="8115300" cy="4675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656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10F1B-0BC1-128D-2B0A-3EF5154FA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3232E33F-32E5-9434-D936-C98295C6DD56}"/>
              </a:ext>
            </a:extLst>
          </p:cNvPr>
          <p:cNvSpPr/>
          <p:nvPr/>
        </p:nvSpPr>
        <p:spPr>
          <a:xfrm>
            <a:off x="8362950" y="1318877"/>
            <a:ext cx="3695700" cy="481522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pt-BR" dirty="0">
              <a:solidFill>
                <a:srgbClr val="D9E1F2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32372C6-4961-FE62-EDFE-D7B8FD138068}"/>
              </a:ext>
            </a:extLst>
          </p:cNvPr>
          <p:cNvSpPr txBox="1"/>
          <p:nvPr/>
        </p:nvSpPr>
        <p:spPr>
          <a:xfrm>
            <a:off x="437321" y="596348"/>
            <a:ext cx="99893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1F4E79"/>
                </a:solidFill>
              </a:rPr>
              <a:t>Análise Operacional e Preditiva</a:t>
            </a:r>
            <a:endParaRPr lang="pt-BR" sz="3600" dirty="0">
              <a:solidFill>
                <a:srgbClr val="1F4E79"/>
              </a:solidFill>
              <a:effectLst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D3E8A47-F55F-46B5-4780-DD90BD02F839}"/>
              </a:ext>
            </a:extLst>
          </p:cNvPr>
          <p:cNvSpPr txBox="1"/>
          <p:nvPr/>
        </p:nvSpPr>
        <p:spPr>
          <a:xfrm>
            <a:off x="8451850" y="1690542"/>
            <a:ext cx="3606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1A587E"/>
                </a:solidFill>
              </a:rPr>
              <a:t>Aplicação do Modelo</a:t>
            </a:r>
            <a:r>
              <a:rPr lang="pt-BR" dirty="0">
                <a:solidFill>
                  <a:srgbClr val="1A587E"/>
                </a:solidFill>
              </a:rPr>
              <a:t>: </a:t>
            </a:r>
          </a:p>
          <a:p>
            <a:endParaRPr lang="pt-BR" dirty="0"/>
          </a:p>
          <a:p>
            <a:r>
              <a:rPr lang="pt-BR" dirty="0"/>
              <a:t>Integra o algoritmo preditivo XGBoost ao acompanhamento diário: </a:t>
            </a:r>
          </a:p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Listagem de pedidos com risco de atraso (score).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Priorização da triagem em tempo real.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Identificação do ofensor operacional do vendedor na esteira. </a:t>
            </a:r>
          </a:p>
          <a:p>
            <a:endParaRPr lang="pt-BR" dirty="0">
              <a:effectLst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4081A79-0625-84B5-8B61-F9ED03A05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320" y="1318877"/>
            <a:ext cx="7836729" cy="481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9258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27E09-E1AA-E637-7E2D-AA1FC015C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6135660F-F7F2-16A2-7537-B0B3B4445B21}"/>
              </a:ext>
            </a:extLst>
          </p:cNvPr>
          <p:cNvSpPr/>
          <p:nvPr/>
        </p:nvSpPr>
        <p:spPr>
          <a:xfrm>
            <a:off x="8715374" y="1318877"/>
            <a:ext cx="3343275" cy="481522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pt-BR" dirty="0">
              <a:solidFill>
                <a:srgbClr val="D9E1F2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E910E27-1AA2-7C2A-38EC-1E4ED5CF5D66}"/>
              </a:ext>
            </a:extLst>
          </p:cNvPr>
          <p:cNvSpPr txBox="1"/>
          <p:nvPr/>
        </p:nvSpPr>
        <p:spPr>
          <a:xfrm>
            <a:off x="437321" y="596348"/>
            <a:ext cx="99893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1F4E79"/>
                </a:solidFill>
              </a:rPr>
              <a:t>Análise Operacional e Preditiva</a:t>
            </a:r>
            <a:endParaRPr lang="pt-BR" sz="3600" dirty="0">
              <a:solidFill>
                <a:srgbClr val="1F4E79"/>
              </a:solidFill>
              <a:effectLst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95C7AF1-7FCE-CF3C-A52F-6313BCB78CC5}"/>
              </a:ext>
            </a:extLst>
          </p:cNvPr>
          <p:cNvSpPr txBox="1"/>
          <p:nvPr/>
        </p:nvSpPr>
        <p:spPr>
          <a:xfrm>
            <a:off x="8801100" y="1690542"/>
            <a:ext cx="325755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1A587E"/>
                </a:solidFill>
              </a:rPr>
              <a:t>Aplicação do Modelo</a:t>
            </a:r>
            <a:r>
              <a:rPr lang="pt-BR" dirty="0">
                <a:solidFill>
                  <a:srgbClr val="1A587E"/>
                </a:solidFill>
              </a:rPr>
              <a:t>: </a:t>
            </a:r>
          </a:p>
          <a:p>
            <a:endParaRPr lang="pt-BR" dirty="0"/>
          </a:p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Listagem de pedidos com risco de atraso (score).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Priorização da triagem em tempo real.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Identificação do ofensor operacional do vendedor na esteira. </a:t>
            </a:r>
          </a:p>
          <a:p>
            <a:endParaRPr lang="pt-BR" dirty="0">
              <a:effectLst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6755396-3279-9033-4920-3FB847340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24" y="1318877"/>
            <a:ext cx="7991475" cy="481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3125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D57DF-1875-0E40-0DC5-BD23B1C70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F6A7A92-A74A-EAE5-F4FD-9A1AA5BCAA9F}"/>
              </a:ext>
            </a:extLst>
          </p:cNvPr>
          <p:cNvSpPr/>
          <p:nvPr/>
        </p:nvSpPr>
        <p:spPr>
          <a:xfrm>
            <a:off x="574262" y="3149601"/>
            <a:ext cx="5031408" cy="346323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D9E1F2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DC0B2BF-1DBD-67AD-F055-3CDD8632DA18}"/>
              </a:ext>
            </a:extLst>
          </p:cNvPr>
          <p:cNvSpPr txBox="1"/>
          <p:nvPr/>
        </p:nvSpPr>
        <p:spPr>
          <a:xfrm>
            <a:off x="437321" y="596348"/>
            <a:ext cx="64538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1F4E79"/>
                </a:solidFill>
              </a:rPr>
              <a:t>Conclusão</a:t>
            </a:r>
            <a:endParaRPr lang="pt-BR" sz="3600" dirty="0">
              <a:solidFill>
                <a:srgbClr val="1F4E79"/>
              </a:solidFill>
              <a:effectLst/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98CC1A74-BD63-DB91-B2D9-3B96970ADC51}"/>
              </a:ext>
            </a:extLst>
          </p:cNvPr>
          <p:cNvSpPr/>
          <p:nvPr/>
        </p:nvSpPr>
        <p:spPr>
          <a:xfrm>
            <a:off x="574261" y="1457739"/>
            <a:ext cx="10756348" cy="1285462"/>
          </a:xfrm>
          <a:prstGeom prst="roundRect">
            <a:avLst/>
          </a:prstGeom>
          <a:solidFill>
            <a:srgbClr val="0046B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O XGBoost confirmou a hipótese da pesquisa: Modelos de </a:t>
            </a:r>
            <a:r>
              <a:rPr lang="pt-BR" sz="2000" dirty="0" err="1">
                <a:solidFill>
                  <a:schemeClr val="bg1"/>
                </a:solidFill>
              </a:rPr>
              <a:t>boosting</a:t>
            </a:r>
            <a:r>
              <a:rPr lang="pt-BR" sz="2000" dirty="0">
                <a:solidFill>
                  <a:schemeClr val="bg1"/>
                </a:solidFill>
              </a:rPr>
              <a:t> entregam o melhor equilíbrio entre a capacidade de detecção de atrasos (revocação) e o controle operacional de falsos alarmes (precisão).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38263ED-7D00-1A3F-3FD4-63588887A864}"/>
              </a:ext>
            </a:extLst>
          </p:cNvPr>
          <p:cNvSpPr txBox="1"/>
          <p:nvPr/>
        </p:nvSpPr>
        <p:spPr>
          <a:xfrm>
            <a:off x="679726" y="3429000"/>
            <a:ext cx="482048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1A587E"/>
                </a:solidFill>
              </a:rPr>
              <a:t>Fatores Críticos</a:t>
            </a:r>
            <a:r>
              <a:rPr lang="pt-BR" sz="2000" dirty="0">
                <a:solidFill>
                  <a:srgbClr val="1A587E"/>
                </a:solidFill>
              </a:rPr>
              <a:t>: </a:t>
            </a:r>
          </a:p>
          <a:p>
            <a:endParaRPr lang="pt-BR" sz="2000" dirty="0"/>
          </a:p>
          <a:p>
            <a:r>
              <a:rPr lang="pt-BR" sz="2000" dirty="0"/>
              <a:t>O que realmente causa o atraso: </a:t>
            </a:r>
          </a:p>
          <a:p>
            <a:endParaRPr lang="pt-B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Eficiência na expedição pelo vendedor pesa mais que a distância geográfica.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Prazos irreais (lead time estipulados) são os maiores ofensores.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3B6A3386-4550-059E-2E4F-D50823CBDCA2}"/>
              </a:ext>
            </a:extLst>
          </p:cNvPr>
          <p:cNvSpPr/>
          <p:nvPr/>
        </p:nvSpPr>
        <p:spPr>
          <a:xfrm>
            <a:off x="5795618" y="3149601"/>
            <a:ext cx="4766366" cy="346323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D9E1F2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FA025AD-F36C-FE2F-BF75-23C239BB2194}"/>
              </a:ext>
            </a:extLst>
          </p:cNvPr>
          <p:cNvSpPr txBox="1"/>
          <p:nvPr/>
        </p:nvSpPr>
        <p:spPr>
          <a:xfrm>
            <a:off x="5994124" y="3296167"/>
            <a:ext cx="436935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1A587E"/>
                </a:solidFill>
              </a:rPr>
              <a:t>Trabalhos Futuros</a:t>
            </a:r>
            <a:r>
              <a:rPr lang="pt-BR" sz="2000" dirty="0">
                <a:solidFill>
                  <a:srgbClr val="1A587E"/>
                </a:solidFill>
              </a:rPr>
              <a:t>: </a:t>
            </a:r>
          </a:p>
          <a:p>
            <a:endParaRPr lang="pt-BR" sz="2000" dirty="0"/>
          </a:p>
          <a:p>
            <a:r>
              <a:rPr lang="pt-BR" sz="2000" dirty="0"/>
              <a:t>Próximos passos para evolução: </a:t>
            </a:r>
          </a:p>
          <a:p>
            <a:endParaRPr lang="pt-B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Implementar modelagem em cascata para monitorar a jornada do pedido.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Inclusão de variáveis de tráfego e de clima.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Testar técnicas ativas como o SMOTE. </a:t>
            </a:r>
          </a:p>
        </p:txBody>
      </p:sp>
    </p:spTree>
    <p:extLst>
      <p:ext uri="{BB962C8B-B14F-4D97-AF65-F5344CB8AC3E}">
        <p14:creationId xmlns:p14="http://schemas.microsoft.com/office/powerpoint/2010/main" val="15986749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B7414-B94B-1E5C-2A62-94F75CAD4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E0EE0F8E-5A4E-85E6-C739-58188AA804DE}"/>
              </a:ext>
            </a:extLst>
          </p:cNvPr>
          <p:cNvSpPr/>
          <p:nvPr/>
        </p:nvSpPr>
        <p:spPr>
          <a:xfrm>
            <a:off x="574262" y="2958261"/>
            <a:ext cx="5040000" cy="317009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D9E1F2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95D7D83-B9CA-1328-4773-4EDA26254DB5}"/>
              </a:ext>
            </a:extLst>
          </p:cNvPr>
          <p:cNvSpPr txBox="1"/>
          <p:nvPr/>
        </p:nvSpPr>
        <p:spPr>
          <a:xfrm>
            <a:off x="437321" y="596348"/>
            <a:ext cx="64538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1F4E79"/>
                </a:solidFill>
              </a:rPr>
              <a:t>Conclusão</a:t>
            </a:r>
            <a:endParaRPr lang="pt-BR" sz="3600" dirty="0">
              <a:solidFill>
                <a:srgbClr val="1F4E79"/>
              </a:solidFill>
              <a:effectLst/>
            </a:endParaRP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78E6C5ED-F37C-3896-6C4D-00844DA6DE81}"/>
              </a:ext>
            </a:extLst>
          </p:cNvPr>
          <p:cNvSpPr/>
          <p:nvPr/>
        </p:nvSpPr>
        <p:spPr>
          <a:xfrm>
            <a:off x="574261" y="1457739"/>
            <a:ext cx="10756348" cy="1285462"/>
          </a:xfrm>
          <a:prstGeom prst="roundRect">
            <a:avLst/>
          </a:prstGeom>
          <a:solidFill>
            <a:srgbClr val="0046B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bg1"/>
                </a:solidFill>
              </a:rPr>
              <a:t>O XGBoost confirmou a hipótese da pesquisa: Modelos de </a:t>
            </a:r>
            <a:r>
              <a:rPr lang="pt-BR" sz="2000" dirty="0" err="1">
                <a:solidFill>
                  <a:schemeClr val="bg1"/>
                </a:solidFill>
              </a:rPr>
              <a:t>boosting</a:t>
            </a:r>
            <a:r>
              <a:rPr lang="pt-BR" sz="2000" dirty="0">
                <a:solidFill>
                  <a:schemeClr val="bg1"/>
                </a:solidFill>
              </a:rPr>
              <a:t> entregam o melhor equilíbrio entre a capacidade de detecção de atrasos (revocação) e o controle operacional de falsos alarmes (precisão).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54279CE-EA08-D244-ABA5-40822433E816}"/>
              </a:ext>
            </a:extLst>
          </p:cNvPr>
          <p:cNvSpPr txBox="1"/>
          <p:nvPr/>
        </p:nvSpPr>
        <p:spPr>
          <a:xfrm>
            <a:off x="679726" y="3098220"/>
            <a:ext cx="4685376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1A587E"/>
                </a:solidFill>
              </a:rPr>
              <a:t>Fatores Críticos</a:t>
            </a:r>
            <a:r>
              <a:rPr lang="pt-BR" sz="2000" dirty="0">
                <a:solidFill>
                  <a:srgbClr val="1A587E"/>
                </a:solidFill>
              </a:rPr>
              <a:t>: </a:t>
            </a:r>
          </a:p>
          <a:p>
            <a:endParaRPr lang="pt-B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Eficiência na expedição pelo vendedor pesa mais que a distância geográfica. </a:t>
            </a:r>
          </a:p>
          <a:p>
            <a:endParaRPr lang="pt-B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Prazos irreais (lead time estipulados) são os maiores ofensores.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3766FB24-7441-9B0F-3205-9989B0C979E9}"/>
              </a:ext>
            </a:extLst>
          </p:cNvPr>
          <p:cNvSpPr/>
          <p:nvPr/>
        </p:nvSpPr>
        <p:spPr>
          <a:xfrm>
            <a:off x="6299201" y="2958261"/>
            <a:ext cx="5040000" cy="317009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D9E1F2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D38099C-62AB-0EF4-8551-EACF5B338C7C}"/>
              </a:ext>
            </a:extLst>
          </p:cNvPr>
          <p:cNvSpPr txBox="1"/>
          <p:nvPr/>
        </p:nvSpPr>
        <p:spPr>
          <a:xfrm>
            <a:off x="6497031" y="3061354"/>
            <a:ext cx="463574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1A587E"/>
                </a:solidFill>
              </a:rPr>
              <a:t>Trabalhos Futuros</a:t>
            </a:r>
            <a:r>
              <a:rPr lang="pt-BR" sz="2000" dirty="0">
                <a:solidFill>
                  <a:srgbClr val="1A587E"/>
                </a:solidFill>
              </a:rPr>
              <a:t>: </a:t>
            </a:r>
          </a:p>
          <a:p>
            <a:endParaRPr lang="pt-B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Implementar modelagem em cascata para monitorar a jornada do pedido.</a:t>
            </a:r>
          </a:p>
          <a:p>
            <a:r>
              <a:rPr lang="pt-BR" sz="20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Inclusão de variáveis de tráfego e de clima. </a:t>
            </a:r>
          </a:p>
          <a:p>
            <a:endParaRPr lang="pt-B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/>
              <a:t>Testar técnicas ativas como o SMOTE. </a:t>
            </a:r>
          </a:p>
        </p:txBody>
      </p:sp>
    </p:spTree>
    <p:extLst>
      <p:ext uri="{BB962C8B-B14F-4D97-AF65-F5344CB8AC3E}">
        <p14:creationId xmlns:p14="http://schemas.microsoft.com/office/powerpoint/2010/main" val="36882935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B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E16BF2-BC3D-A481-351F-5F8FCC346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m 4" descr="Desenho com traços pretos em fundo branco&#10;&#10;Descrição gerada automaticamente com confiança média">
            <a:extLst>
              <a:ext uri="{FF2B5EF4-FFF2-40B4-BE49-F238E27FC236}">
                <a16:creationId xmlns:a16="http://schemas.microsoft.com/office/drawing/2014/main" id="{D844CAA0-FAEE-3EAE-9736-DAF19C0AD0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400" y="1187450"/>
            <a:ext cx="2692400" cy="448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Título 1">
            <a:extLst>
              <a:ext uri="{FF2B5EF4-FFF2-40B4-BE49-F238E27FC236}">
                <a16:creationId xmlns:a16="http://schemas.microsoft.com/office/drawing/2014/main" id="{286EDBA0-74FC-E09E-96D7-E27BB11A295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114800" y="1550988"/>
            <a:ext cx="7654925" cy="200342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pt-BR" altLang="pt-BR" sz="6600" dirty="0">
                <a:solidFill>
                  <a:schemeClr val="bg2"/>
                </a:solidFill>
                <a:latin typeface="+mn-lt"/>
                <a:cs typeface="Poppins SemiBold" panose="00000700000000000000" pitchFamily="2" charset="0"/>
              </a:rPr>
              <a:t>Muito Obrigado!!!</a:t>
            </a:r>
          </a:p>
        </p:txBody>
      </p:sp>
    </p:spTree>
    <p:extLst>
      <p:ext uri="{BB962C8B-B14F-4D97-AF65-F5344CB8AC3E}">
        <p14:creationId xmlns:p14="http://schemas.microsoft.com/office/powerpoint/2010/main" val="26975439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8CFA7B293EDBE4DB98FBC161D82B39F" ma:contentTypeVersion="15" ma:contentTypeDescription="Crie um novo documento." ma:contentTypeScope="" ma:versionID="ed78836dbbd60ef5b47f46abba0ddc66">
  <xsd:schema xmlns:xsd="http://www.w3.org/2001/XMLSchema" xmlns:xs="http://www.w3.org/2001/XMLSchema" xmlns:p="http://schemas.microsoft.com/office/2006/metadata/properties" xmlns:ns2="2c89dc19-a755-4b1f-8ccb-ddc282e02978" xmlns:ns3="1e7d8aaf-77fb-4419-819f-502bcc31ffe3" targetNamespace="http://schemas.microsoft.com/office/2006/metadata/properties" ma:root="true" ma:fieldsID="f28b1225859e7fd7734d1009df438026" ns2:_="" ns3:_="">
    <xsd:import namespace="2c89dc19-a755-4b1f-8ccb-ddc282e02978"/>
    <xsd:import namespace="1e7d8aaf-77fb-4419-819f-502bcc31ffe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89dc19-a755-4b1f-8ccb-ddc282e0297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1b121cd5-3768-42a0-b312-b7830db9b9b1}" ma:internalName="TaxCatchAll" ma:showField="CatchAllData" ma:web="2c89dc19-a755-4b1f-8ccb-ddc282e0297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7d8aaf-77fb-4419-819f-502bcc31ff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cf329bc3-ce7e-4e75-9c56-962f8f350e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e7d8aaf-77fb-4419-819f-502bcc31ffe3">
      <Terms xmlns="http://schemas.microsoft.com/office/infopath/2007/PartnerControls"/>
    </lcf76f155ced4ddcb4097134ff3c332f>
    <TaxCatchAll xmlns="2c89dc19-a755-4b1f-8ccb-ddc282e0297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5E43D43-768B-4037-BB07-231DDA2772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c89dc19-a755-4b1f-8ccb-ddc282e02978"/>
    <ds:schemaRef ds:uri="1e7d8aaf-77fb-4419-819f-502bcc31ff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1A62DB6-902C-42C2-8D0F-84FB049FEE65}">
  <ds:schemaRefs>
    <ds:schemaRef ds:uri="http://schemas.microsoft.com/office/2006/metadata/properties"/>
    <ds:schemaRef ds:uri="http://schemas.microsoft.com/office/infopath/2007/PartnerControls"/>
    <ds:schemaRef ds:uri="1e7d8aaf-77fb-4419-819f-502bcc31ffe3"/>
    <ds:schemaRef ds:uri="2c89dc19-a755-4b1f-8ccb-ddc282e02978"/>
  </ds:schemaRefs>
</ds:datastoreItem>
</file>

<file path=customXml/itemProps3.xml><?xml version="1.0" encoding="utf-8"?>
<ds:datastoreItem xmlns:ds="http://schemas.openxmlformats.org/officeDocument/2006/customXml" ds:itemID="{555DBCE5-0FAE-4B8C-8A8A-6EE5B61A622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2210</TotalTime>
  <Words>2316</Words>
  <Application>Microsoft Office PowerPoint</Application>
  <PresentationFormat>Widescreen</PresentationFormat>
  <Paragraphs>381</Paragraphs>
  <Slides>30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30</vt:i4>
      </vt:variant>
    </vt:vector>
  </HeadingPairs>
  <TitlesOfParts>
    <vt:vector size="39" baseType="lpstr">
      <vt:lpstr>Aptos</vt:lpstr>
      <vt:lpstr>Aptos Display</vt:lpstr>
      <vt:lpstr>Arial</vt:lpstr>
      <vt:lpstr>Calibri</vt:lpstr>
      <vt:lpstr>Calibri Light</vt:lpstr>
      <vt:lpstr>Google Sans Text</vt:lpstr>
      <vt:lpstr>Roboto</vt:lpstr>
      <vt:lpstr>Tema do Office</vt:lpstr>
      <vt:lpstr>Personalizar design</vt:lpstr>
      <vt:lpstr>Previsão de atrasos em entregas no e-commerce com machine learning e Power BI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Muito Obrigado!!!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do Trabalho de Conclusão de Curso</dc:title>
  <dc:creator>Nicole Dinardi</dc:creator>
  <cp:lastModifiedBy>Hudson Dos Santos - TI Sistemas</cp:lastModifiedBy>
  <cp:revision>43</cp:revision>
  <dcterms:created xsi:type="dcterms:W3CDTF">2023-09-28T12:56:17Z</dcterms:created>
  <dcterms:modified xsi:type="dcterms:W3CDTF">2026-07-05T02:01:25Z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0x01010008CFA7B293EDBE4DB98FBC161D82B39F</vt:lpwstr>
  </property>
</Properties>
</file>